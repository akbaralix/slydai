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62895" cy="443484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0" bIns="381000" lIns="571500" rIns="571500"/>
          <a:lstStyle/>
          <a:p>
            <a:pPr algn="l">
              <a:spcAft>
                <a:spcPts val="2000"/>
              </a:spcAft>
              <a:defRPr sz="4400" b="1">
                <a:solidFill>
                  <a:srgbClr val="F4F3FF"/>
                </a:solidFill>
                <a:latin typeface="Sora"/>
              </a:defRPr>
            </a:pPr>
            <a:r>
              <a:t>Zamonaviy Marketing Strategiyalari</a:t>
            </a:r>
          </a:p>
          <a:p>
            <a:pPr algn="l">
              <a:spcAft>
                <a:spcPts val="2400"/>
              </a:spcAft>
              <a:defRPr sz="2000">
                <a:solidFill>
                  <a:srgbClr val="C3C0DE"/>
                </a:solidFill>
                <a:latin typeface="Spline Sans Mono"/>
              </a:defRPr>
            </a:pPr>
            <a:r>
              <a:t>Raqamli asrda biznesni rivojlantirish va mijozlarni jalb qilish</a:t>
            </a:r>
          </a:p>
          <a:p>
            <a:pPr>
              <a:defRPr sz="1200">
                <a:solidFill>
                  <a:srgbClr val="7C5CFF"/>
                </a:solidFill>
                <a:latin typeface="Spline Sans Mono"/>
              </a:defRPr>
            </a:pPr>
            <a:r>
              <a:t>━━━━━━━━━━━━━━━━━━━━━━━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28016" cy="443484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REJA VA 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F4F3FF"/>
                </a:solidFill>
                <a:latin typeface="Sora"/>
              </a:defRPr>
            </a:pPr>
            <a:r>
              <a:t>Taqdimot Rejasi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203911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06500" rIns="228600"/>
          <a:lstStyle/>
          <a:p>
            <a:pPr algn="ctr"/>
            <a:r>
              <a:rPr sz="1650" b="1">
                <a:solidFill>
                  <a:srgbClr val="F4F3FF"/>
                </a:solidFill>
                <a:latin typeface="Sora"/>
              </a:rPr>
              <a:t>Kirish  —  </a:t>
            </a:r>
            <a:r>
              <a:rPr sz="1450">
                <a:solidFill>
                  <a:srgbClr val="C3C0DE"/>
                </a:solidFill>
                <a:latin typeface="Spline Sans Mono"/>
              </a:rPr>
              <a:t>Marketing tushunchasi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777240" cy="1856231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600" b="1">
                <a:solidFill>
                  <a:srgbClr val="7C5CFF"/>
                </a:solidFill>
                <a:latin typeface="Spline Sans Mono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203911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06500" rIns="228600"/>
          <a:lstStyle/>
          <a:p>
            <a:pPr algn="ctr"/>
            <a:r>
              <a:rPr sz="1650" b="1">
                <a:solidFill>
                  <a:srgbClr val="F4F3FF"/>
                </a:solidFill>
                <a:latin typeface="Sora"/>
              </a:rPr>
              <a:t>Strategiya  —  </a:t>
            </a:r>
            <a:r>
              <a:rPr sz="1450">
                <a:solidFill>
                  <a:srgbClr val="C3C0DE"/>
                </a:solidFill>
                <a:latin typeface="Spline Sans Mono"/>
              </a:rPr>
              <a:t>Amaliyot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59"/>
            <a:ext cx="777240" cy="1856231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600" b="1">
                <a:solidFill>
                  <a:srgbClr val="7C5CFF"/>
                </a:solidFill>
                <a:latin typeface="Spline Sans Mono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