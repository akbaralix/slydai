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3360" y="1188720"/>
            <a:ext cx="414497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3B7FF"/>
                </a:solidFill>
                <a:latin typeface="Inter"/>
              </a:defRPr>
            </a:pPr>
            <a:r>
              <a:t>SLYDAI  •  HOLO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920240"/>
            <a:ext cx="9997135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3A3A46"/>
                </a:solidFill>
                <a:latin typeface="Sora"/>
              </a:defRPr>
            </a:pPr>
            <a:r>
              <a:t>Raqamli Dunyoda *Evolutsiya*: Brendingizni Yangi Bosqichga Olib Chiqish</a:t>
            </a:r>
          </a:p>
          <a:p>
            <a:pPr algn="ctr">
              <a:spcBef>
                <a:spcPts val="1600"/>
              </a:spcBef>
              <a:defRPr sz="1800">
                <a:solidFill>
                  <a:srgbClr val="5C5C6A"/>
                </a:solidFill>
                <a:latin typeface="Inter"/>
              </a:defRPr>
            </a:pPr>
            <a:r>
              <a:t>Zamonaviy raqamli marketing vositalari, sun'iy intellekt integratsiyasi va iste'molchilar xulq-atvorini tahlil qilish orqali barqaror o'sish strategiyasi.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0990" y="5669280"/>
            <a:ext cx="1828800" cy="73152"/>
          </a:xfrm>
          <a:prstGeom prst="round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8A98"/>
                </a:solidFill>
                <a:latin typeface="Inter"/>
              </a:defRPr>
            </a:pPr>
            <a:r>
              <a:t>SlydAI • HOLO                           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23774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3B7FF"/>
                </a:solidFill>
                <a:latin typeface="Inter"/>
              </a:defRPr>
            </a:pPr>
            <a:r>
              <a:t>REJA VA TARKIB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A3A46"/>
                </a:solidFill>
                <a:latin typeface="Sora"/>
              </a:defRPr>
            </a:pPr>
            <a:r>
              <a:t>Strategik *Yo'l* Xaritasi: Biznesni Raqamlashtirish Bosqichlari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C5C6A"/>
                </a:solidFill>
                <a:latin typeface="Inter"/>
              </a:defRPr>
            </a:pPr>
            <a:r>
              <a:t>01   |   Iste'molchi va Ma'lumotlar: Maqsadli auditoriyani aniq segmentatsiyalash va chuqur ma'lumotlar tahlili (Data Analytics) orqali strategik qarorlar qabul qilish asoslari.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8A98"/>
                </a:solidFill>
                <a:latin typeface="Inter"/>
              </a:defRPr>
            </a:pPr>
            <a:r>
              <a:t>SlydAI • HOLO                           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21945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3B7FF"/>
                </a:solidFill>
                <a:latin typeface="Inter"/>
              </a:defRPr>
            </a:pPr>
            <a:r>
              <a:t>SLAYD 03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A3A46"/>
                </a:solidFill>
                <a:latin typeface="Sora"/>
              </a:defRPr>
            </a:pPr>
            <a:r>
              <a:t>Maqsadli Trafik va *Auditoriya* Bilan Ishlash San'ati</a:t>
            </a:r>
          </a:p>
          <a:p>
            <a:pPr>
              <a:spcBef>
                <a:spcPts val="400"/>
              </a:spcBef>
              <a:defRPr sz="1500">
                <a:solidFill>
                  <a:srgbClr val="8A8A98"/>
                </a:solidFill>
                <a:latin typeface="Inter"/>
              </a:defRPr>
            </a:pPr>
            <a:r>
              <a:t>To'g'ri odamga, to'g'ri vaqtda va eng maqbul taklif bilan yetib borishning zamonaviy usullari.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5C5C6A"/>
                </a:solidFill>
                <a:latin typeface="Inter"/>
              </a:defRPr>
            </a:pPr>
            <a:r>
              <a:t>✦   Giper-shaxsiylashtirilgan Targetlash: Foydalanuvchilarning qiziqishlari, demografiyasi va onlayn xulq-atvoriga qarab reklamani faqat eng yuqori konversiya ehtimoli bo'lgan mijozlarga ko'rsatish.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8A98"/>
                </a:solidFill>
                <a:latin typeface="Inter"/>
              </a:defRPr>
            </a:pPr>
            <a:r>
              <a:t>SlydAI • HOLO                           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21945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3B7FF"/>
                </a:solidFill>
                <a:latin typeface="Inter"/>
              </a:defRPr>
            </a:pPr>
            <a:r>
              <a:t>SLAYD 04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A3A46"/>
                </a:solidFill>
                <a:latin typeface="Sora"/>
              </a:defRPr>
            </a:pPr>
            <a:r>
              <a:t>Ma'lumotlar Tahlili va *Konversiya* Hunisini Yo'lga Qo'yish</a:t>
            </a:r>
          </a:p>
          <a:p>
            <a:pPr>
              <a:spcBef>
                <a:spcPts val="400"/>
              </a:spcBef>
              <a:defRPr sz="1500">
                <a:solidFill>
                  <a:srgbClr val="8A8A98"/>
                </a:solidFill>
                <a:latin typeface="Inter"/>
              </a:defRPr>
            </a:pPr>
            <a:r>
              <a:t>Har bir sarflangan budjetning samaradorligini o'lchash va sotuv jarayonlarini avtomatlashtirish.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C3B7FF"/>
                </a:solidFill>
                <a:latin typeface="Inter"/>
              </a:defRPr>
            </a:pPr>
            <a:r>
              <a:t>Asosiy tushunchalar</a:t>
            </a:r>
          </a:p>
          <a:p>
            <a:pPr>
              <a:spcAft>
                <a:spcPts val="1000"/>
              </a:spcAft>
              <a:defRPr sz="1400">
                <a:solidFill>
                  <a:srgbClr val="5C5C6A"/>
                </a:solidFill>
                <a:latin typeface="Inter"/>
              </a:defRPr>
            </a:pPr>
            <a:r>
              <a:t>• Data-Driven Qarorlar: Google Analytics va boshqa tahliliy tizimlar yordamida foydalanuvchilarning har bir qadamini kuzatish va samarasiz reklama kanallarini tezkor aniqlash.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14884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C3B7FF"/>
                </a:solidFill>
                <a:latin typeface="Inter"/>
              </a:defRPr>
            </a:pPr>
            <a:r>
              <a:t>Amaliy tahlil va ahamiyati</a:t>
            </a:r>
          </a:p>
          <a:p>
            <a:pPr>
              <a:spcAft>
                <a:spcPts val="1000"/>
              </a:spcAft>
              <a:defRPr sz="1400">
                <a:solidFill>
                  <a:srgbClr val="5C5C6A"/>
                </a:solidFill>
                <a:latin typeface="Inter"/>
              </a:defRPr>
            </a:pPr>
            <a:r>
              <a:t>• Data-Driven Qarorlar: Google Analytics va boshqa tahliliy tizimlar yordamida foydalanuvchilarning har bir qadamini kuzatish va samarasiz reklama kanallarini tezkor aniqlash.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8A98"/>
                </a:solidFill>
                <a:latin typeface="Inter"/>
              </a:defRPr>
            </a:pPr>
            <a:r>
              <a:t>SlydAI • HOLO                           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3360" y="731520"/>
            <a:ext cx="414497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3B7FF"/>
                </a:solidFill>
                <a:latin typeface="Inter"/>
              </a:defRPr>
            </a:pPr>
            <a:r>
              <a:t>XULOSA &amp; AMALIY TAVSIYALAR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3A3A46"/>
                </a:solidFill>
                <a:latin typeface="Sora"/>
              </a:defRPr>
            </a:pPr>
            <a:r>
              <a:t>Raqamli Kelajak: Bugundanoq Amaldagi *Harakatlar*</a:t>
            </a:r>
          </a:p>
          <a:p>
            <a:pPr algn="ctr">
              <a:spcBef>
                <a:spcPts val="600"/>
              </a:spcBef>
              <a:defRPr sz="1600">
                <a:solidFill>
                  <a:srgbClr val="5C5C6A"/>
                </a:solidFill>
                <a:latin typeface="Inter"/>
              </a:defRPr>
            </a:pPr>
            <a:r>
              <a:t>Biznesingizni raqamli marketing orqali rivojlantirish uchun zudlik bilan amalga oshirilishi kerak bo'lgan strategik qadamlar.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9997135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C3B7FF"/>
                </a:solidFill>
                <a:latin typeface="Inter"/>
              </a:defRPr>
            </a:pPr>
            <a:r>
              <a:t>Qadam 01</a:t>
            </a:r>
          </a:p>
          <a:p>
            <a:pPr>
              <a:defRPr sz="1400">
                <a:solidFill>
                  <a:srgbClr val="5C5C6A"/>
                </a:solidFill>
                <a:latin typeface="Inter"/>
              </a:defRPr>
            </a:pPr>
            <a:r>
              <a:t>Kompleks Audit va Tahlil: Mavjud raqamli resurslar (sayt, ijtimoiy tarmoqlar) va raqobatchilarning faoliyatini to'liq tahlil qilib, tizimdagi zaif nuqtalarni tezkor tuzatish.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A8A98"/>
                </a:solidFill>
                <a:latin typeface="Inter"/>
              </a:defRPr>
            </a:pPr>
            <a:r>
              <a:t>SlydAI • HOLO                           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