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931920" y="1005840"/>
            <a:ext cx="4327855" cy="438912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051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127000" rIns="127000"/>
          <a:lstStyle/>
          <a:p>
            <a:pPr algn="ctr">
              <a:defRPr sz="1100" b="1">
                <a:solidFill>
                  <a:srgbClr val="051C2C"/>
                </a:solidFill>
                <a:latin typeface="Arimo"/>
              </a:defRPr>
            </a:pPr>
            <a:r>
              <a:t>SLYDAI  •  MCKINSEY-STYLE EDITION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91640"/>
            <a:ext cx="10362895" cy="384048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55600" bIns="254000" lIns="457200" rIns="457200"/>
          <a:lstStyle/>
          <a:p>
            <a:pPr algn="l">
              <a:spcAft>
                <a:spcPts val="1600"/>
              </a:spcAft>
              <a:defRPr sz="3600" b="1">
                <a:solidFill>
                  <a:srgbClr val="051C2C"/>
                </a:solidFill>
                <a:latin typeface="Gelasio"/>
              </a:defRPr>
            </a:pPr>
            <a:r>
              <a:t>Sun'iy Intellekt va Kelajak Texnologiyalari</a:t>
            </a:r>
          </a:p>
          <a:p>
            <a:pPr algn="l">
              <a:spcAft>
                <a:spcPts val="2000"/>
              </a:spcAft>
              <a:defRPr sz="1700">
                <a:solidFill>
                  <a:srgbClr val="4E5B66"/>
                </a:solidFill>
                <a:latin typeface="Arimo"/>
              </a:defRPr>
            </a:pPr>
            <a:r>
              <a:t>Biznes va Ta'limda Transformatsiya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691640"/>
            <a:ext cx="109728" cy="384048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5715000"/>
            <a:ext cx="3246120" cy="621792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127000" rIns="127000"/>
          <a:lstStyle/>
          <a:p>
            <a:pPr algn="ctr">
              <a:defRPr sz="900" b="1">
                <a:solidFill>
                  <a:srgbClr val="051C2C"/>
                </a:solidFill>
                <a:latin typeface="Arimo"/>
              </a:defRPr>
            </a:pPr>
            <a:r>
              <a:t>TAQDIMOT TURI</a:t>
            </a:r>
          </a:p>
          <a:p>
            <a:pPr>
              <a:defRPr sz="1100">
                <a:solidFill>
                  <a:srgbClr val="4E5B66"/>
                </a:solidFill>
                <a:latin typeface="Arimo"/>
              </a:defRPr>
            </a:pPr>
            <a:r>
              <a:t>Mckinsey-Style Professional Deck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71416" y="5715000"/>
            <a:ext cx="3246120" cy="621792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127000" rIns="127000"/>
          <a:lstStyle/>
          <a:p>
            <a:pPr algn="ctr">
              <a:defRPr sz="900" b="1">
                <a:solidFill>
                  <a:srgbClr val="051C2C"/>
                </a:solidFill>
                <a:latin typeface="Arimo"/>
              </a:defRPr>
            </a:pPr>
            <a:r>
              <a:t>SLAYDLAR SONI</a:t>
            </a:r>
          </a:p>
          <a:p>
            <a:pPr>
              <a:defRPr sz="1100">
                <a:solidFill>
                  <a:srgbClr val="4E5B66"/>
                </a:solidFill>
                <a:latin typeface="Arimo"/>
              </a:defRPr>
            </a:pPr>
            <a:r>
              <a:t>4 ta to'liq slayd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2" y="5715000"/>
            <a:ext cx="3246120" cy="621792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127000" rIns="127000"/>
          <a:lstStyle/>
          <a:p>
            <a:pPr algn="ctr">
              <a:defRPr sz="900" b="1">
                <a:solidFill>
                  <a:srgbClr val="051C2C"/>
                </a:solidFill>
                <a:latin typeface="Arimo"/>
              </a:defRPr>
            </a:pPr>
            <a:r>
              <a:t>TAHLIL DARAJASI</a:t>
            </a:r>
          </a:p>
          <a:p>
            <a:pPr>
              <a:defRPr sz="1100">
                <a:solidFill>
                  <a:srgbClr val="4E5B66"/>
                </a:solidFill>
                <a:latin typeface="Arimo"/>
              </a:defRPr>
            </a:pPr>
            <a:r>
              <a:t>Ekspert &amp; Amaliy Yo'riqnoma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50">
                <a:solidFill>
                  <a:srgbClr val="8A97A3"/>
                </a:solidFill>
                <a:latin typeface="Arimo"/>
              </a:defRPr>
            </a:pPr>
            <a:r>
              <a:t>SlydAI  •  MCKINSEY-STYLE                             1 /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2377440" cy="329184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51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100" bIns="38100" lIns="101600" rIns="101600"/>
          <a:lstStyle/>
          <a:p>
            <a:pPr algn="ctr">
              <a:defRPr sz="1000" b="1">
                <a:solidFill>
                  <a:srgbClr val="051C2C"/>
                </a:solidFill>
                <a:latin typeface="Arimo"/>
              </a:defRPr>
            </a:pPr>
            <a:r>
              <a:t>REJA VA MUNDARIJA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800" b="1">
                <a:solidFill>
                  <a:srgbClr val="051C2C"/>
                </a:solidFill>
                <a:latin typeface="Gelasio"/>
              </a:defRPr>
            </a:pPr>
            <a:r>
              <a:t>Taqdimot Rejasi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728655" cy="964692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101600" lIns="1079500" rIns="228600"/>
          <a:lstStyle/>
          <a:p>
            <a:pPr algn="ctr"/>
            <a:r>
              <a:rPr sz="1500" b="1">
                <a:solidFill>
                  <a:srgbClr val="051C2C"/>
                </a:solidFill>
                <a:latin typeface="Gelasio"/>
              </a:rPr>
              <a:t>AI Asoslari  —  </a:t>
            </a:r>
            <a:r>
              <a:rPr sz="1300">
                <a:solidFill>
                  <a:srgbClr val="4E5B66"/>
                </a:solidFill>
                <a:latin typeface="Arimo"/>
              </a:rPr>
              <a:t>Mashinaviy o'rganish va neyron tarmoqlar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92807"/>
            <a:ext cx="685800" cy="7452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1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lIns="25400" rIns="25400"/>
          <a:lstStyle/>
          <a:p>
            <a:pPr algn="ctr">
              <a:defRPr sz="1400" b="1">
                <a:solidFill>
                  <a:srgbClr val="051C2C"/>
                </a:solidFill>
                <a:latin typeface="Arimo"/>
              </a:defRPr>
            </a:pPr>
            <a: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57500"/>
            <a:ext cx="10728655" cy="964692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101600" lIns="1079500" rIns="228600"/>
          <a:lstStyle/>
          <a:p>
            <a:pPr algn="ctr"/>
            <a:r>
              <a:rPr sz="1500" b="1">
                <a:solidFill>
                  <a:srgbClr val="051C2C"/>
                </a:solidFill>
                <a:latin typeface="Gelasio"/>
              </a:rPr>
              <a:t>Biznes Tadbiqi  —  </a:t>
            </a:r>
            <a:r>
              <a:rPr sz="1300">
                <a:solidFill>
                  <a:srgbClr val="4E5B66"/>
                </a:solidFill>
                <a:latin typeface="Arimo"/>
              </a:rPr>
              <a:t>Avtomatlashtirish va samaradorlikni oshirish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967228"/>
            <a:ext cx="685800" cy="7452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1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lIns="25400" rIns="25400"/>
          <a:lstStyle/>
          <a:p>
            <a:pPr algn="ctr">
              <a:defRPr sz="1400" b="1">
                <a:solidFill>
                  <a:srgbClr val="051C2C"/>
                </a:solidFill>
                <a:latin typeface="Arimo"/>
              </a:defRPr>
            </a:pPr>
            <a: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10728655" cy="964692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101600" lIns="1079500" rIns="228600"/>
          <a:lstStyle/>
          <a:p>
            <a:pPr algn="ctr"/>
            <a:r>
              <a:rPr sz="1500" b="1">
                <a:solidFill>
                  <a:srgbClr val="051C2C"/>
                </a:solidFill>
                <a:latin typeface="Gelasio"/>
              </a:rPr>
              <a:t>Xavflar va Xavfsizlik  —  </a:t>
            </a:r>
            <a:r>
              <a:rPr sz="1300">
                <a:solidFill>
                  <a:srgbClr val="4E5B66"/>
                </a:solidFill>
                <a:latin typeface="Arimo"/>
              </a:rPr>
              <a:t>Etika va ma'lumotlar maxfiyligi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041648"/>
            <a:ext cx="685800" cy="7452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1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lIns="25400" rIns="25400"/>
          <a:lstStyle/>
          <a:p>
            <a:pPr algn="ctr">
              <a:defRPr sz="1400" b="1">
                <a:solidFill>
                  <a:srgbClr val="051C2C"/>
                </a:solidFill>
                <a:latin typeface="Arimo"/>
              </a:defRPr>
            </a:pPr>
            <a:r>
              <a:t>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006340"/>
            <a:ext cx="10728655" cy="964692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101600" lIns="1079500" rIns="228600"/>
          <a:lstStyle/>
          <a:p>
            <a:pPr algn="ctr"/>
            <a:r>
              <a:rPr sz="1500" b="1">
                <a:solidFill>
                  <a:srgbClr val="051C2C"/>
                </a:solidFill>
                <a:latin typeface="Gelasio"/>
              </a:rPr>
              <a:t>Kelajak Istiqbollari  —  </a:t>
            </a:r>
            <a:r>
              <a:rPr sz="1300">
                <a:solidFill>
                  <a:srgbClr val="4E5B66"/>
                </a:solidFill>
                <a:latin typeface="Arimo"/>
              </a:rPr>
              <a:t>Keyingi 10 yillikdagi asosiy trendlar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116068"/>
            <a:ext cx="685800" cy="7452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1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lIns="25400" rIns="25400"/>
          <a:lstStyle/>
          <a:p>
            <a:pPr algn="ctr">
              <a:defRPr sz="1400" b="1">
                <a:solidFill>
                  <a:srgbClr val="051C2C"/>
                </a:solidFill>
                <a:latin typeface="Arimo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50">
                <a:solidFill>
                  <a:srgbClr val="8A97A3"/>
                </a:solidFill>
                <a:latin typeface="Arimo"/>
              </a:defRPr>
            </a:pPr>
            <a:r>
              <a:t>SlydAI  •  MCKINSEY-STYLE                             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02920"/>
            <a:ext cx="2194560" cy="329184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100" bIns="38100" lIns="101600" rIns="101600"/>
          <a:lstStyle/>
          <a:p>
            <a:pPr algn="ctr">
              <a:defRPr sz="1000" b="1">
                <a:solidFill>
                  <a:srgbClr val="051C2C"/>
                </a:solidFill>
                <a:latin typeface="Arimo"/>
              </a:defRPr>
            </a:pPr>
            <a:r>
              <a:t>SLAYD 03 /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960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600" b="1">
                <a:solidFill>
                  <a:srgbClr val="051C2C"/>
                </a:solidFill>
                <a:latin typeface="Gelasio"/>
              </a:defRPr>
            </a:pPr>
            <a:r>
              <a:t>Sun'iy Intellektning Biznesga Ta'siri</a:t>
            </a:r>
          </a:p>
          <a:p>
            <a:pPr>
              <a:spcBef>
                <a:spcPts val="300"/>
              </a:spcBef>
              <a:defRPr sz="1400">
                <a:solidFill>
                  <a:srgbClr val="4E5B66"/>
                </a:solidFill>
                <a:latin typeface="Arimo"/>
              </a:defRPr>
            </a:pPr>
            <a:r>
              <a:t>Strategik afzalliklar va resurslarni tejash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230368" cy="41605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3200" bIns="177800" lIns="228600" rIns="228600"/>
          <a:lstStyle/>
          <a:p>
            <a:pPr algn="ctr">
              <a:spcAft>
                <a:spcPts val="1200"/>
              </a:spcAft>
              <a:defRPr sz="1500" b="1">
                <a:solidFill>
                  <a:srgbClr val="051C2C"/>
                </a:solidFill>
                <a:latin typeface="Gelasio"/>
              </a:defRPr>
            </a:pPr>
            <a:r>
              <a:t>Asosiy Tushunchalar va Tahlil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51C2C"/>
                </a:solidFill>
                <a:latin typeface="Arimo"/>
              </a:rPr>
              <a:t>• </a:t>
            </a:r>
            <a:r>
              <a:rPr sz="1300" b="1">
                <a:solidFill>
                  <a:srgbClr val="051C2C"/>
                </a:solidFill>
                <a:latin typeface="Arimo"/>
              </a:rPr>
              <a:t>Jarayonlarni Avtomatlashtirish: </a:t>
            </a:r>
            <a:r>
              <a:rPr sz="1300">
                <a:solidFill>
                  <a:srgbClr val="4E5B66"/>
                </a:solidFill>
                <a:latin typeface="Arimo"/>
              </a:rPr>
              <a:t>Rutin va takrorlanuvchi operatsiyalarni to'liq avtomatlashtirish orqali inson resurslarini strategik vazifalarga yo'naltirish va operatsion xarajatlarni 40% gacha qisqartirish imkoniyati.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51C2C"/>
                </a:solidFill>
                <a:latin typeface="Arimo"/>
              </a:rPr>
              <a:t>• </a:t>
            </a:r>
            <a:r>
              <a:rPr sz="1300" b="1">
                <a:solidFill>
                  <a:srgbClr val="051C2C"/>
                </a:solidFill>
                <a:latin typeface="Arimo"/>
              </a:rPr>
              <a:t>Katta Ma'lumotlar Tahlili: </a:t>
            </a:r>
            <a:r>
              <a:rPr sz="1300">
                <a:solidFill>
                  <a:srgbClr val="4E5B66"/>
                </a:solidFill>
                <a:latin typeface="Arimo"/>
              </a:rPr>
              <a:t>Katta hajmdagi biznes ma'lumotlarini real vaqt rejimida qayta ishlash, mijozlar xulq-atvorini prognoz qilish va aniq qarorlar qabul qilish tizimi.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5230368" cy="54864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29807" y="1920240"/>
            <a:ext cx="5230368" cy="41605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3200" bIns="177800" lIns="228600" rIns="228600"/>
          <a:lstStyle/>
          <a:p>
            <a:pPr algn="ctr">
              <a:spcAft>
                <a:spcPts val="1200"/>
              </a:spcAft>
              <a:defRPr sz="1500" b="1">
                <a:solidFill>
                  <a:srgbClr val="051C2C"/>
                </a:solidFill>
                <a:latin typeface="Gelasio"/>
              </a:defRPr>
            </a:pPr>
            <a:r>
              <a:t>Amaliy Tatbiq va Strategik Natijalar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51C2C"/>
                </a:solidFill>
                <a:latin typeface="Arimo"/>
              </a:rPr>
              <a:t>• </a:t>
            </a:r>
            <a:r>
              <a:rPr sz="1300" b="1">
                <a:solidFill>
                  <a:srgbClr val="051C2C"/>
                </a:solidFill>
                <a:latin typeface="Arimo"/>
              </a:rPr>
              <a:t>Mijozlar Tajribasini Yaxshilash: </a:t>
            </a:r>
            <a:r>
              <a:rPr sz="1300">
                <a:solidFill>
                  <a:srgbClr val="4E5B66"/>
                </a:solidFill>
                <a:latin typeface="Arimo"/>
              </a:rPr>
              <a:t>AI yordamidagi shaxsiylashtirilgan takliflar va 24/7 ishlaydigan aqlli yordamchilar orqali konversiya va sodiqlikni sezilarli oshirish.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29807" y="1920240"/>
            <a:ext cx="5230368" cy="54864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50">
                <a:solidFill>
                  <a:srgbClr val="8A97A3"/>
                </a:solidFill>
                <a:latin typeface="Arimo"/>
              </a:defRPr>
            </a:pPr>
            <a:r>
              <a:t>SlydAI  •  MCKINSEY-STYLE                             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931920" y="502920"/>
            <a:ext cx="4327855" cy="329184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51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100" bIns="38100" lIns="101600" rIns="101600"/>
          <a:lstStyle/>
          <a:p>
            <a:pPr algn="ctr">
              <a:defRPr sz="1000" b="1">
                <a:solidFill>
                  <a:srgbClr val="051C2C"/>
                </a:solidFill>
                <a:latin typeface="Arimo"/>
              </a:defRPr>
            </a:pPr>
            <a:r>
              <a:t>XULOSA VA STRATEGIK TAVSIYALAR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728655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2800" b="1">
                <a:solidFill>
                  <a:srgbClr val="051C2C"/>
                </a:solidFill>
                <a:latin typeface="Gelasio"/>
              </a:defRPr>
            </a:pPr>
            <a:r>
              <a:t>Yakuniy Xulosa va Harakatlar Rejasi</a:t>
            </a:r>
          </a:p>
          <a:p>
            <a:pPr algn="ctr">
              <a:spcBef>
                <a:spcPts val="400"/>
              </a:spcBef>
              <a:defRPr sz="1400">
                <a:solidFill>
                  <a:srgbClr val="4E5B66"/>
                </a:solidFill>
                <a:latin typeface="Arimo"/>
              </a:defRPr>
            </a:pPr>
            <a:r>
              <a:t>Tizimli transformatsiya uchun 3 muhim qadam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93338" cy="406908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bIns="177800" lIns="203200" rIns="203200"/>
          <a:lstStyle/>
          <a:p>
            <a:pPr algn="ctr">
              <a:spcAft>
                <a:spcPts val="1200"/>
              </a:spcAft>
              <a:defRPr sz="1100" b="1">
                <a:solidFill>
                  <a:srgbClr val="051C2C"/>
                </a:solidFill>
                <a:latin typeface="Arimo"/>
              </a:defRPr>
            </a:pPr>
            <a:r>
              <a:t>01. ASOSIY XULOSA</a:t>
            </a:r>
          </a:p>
          <a:p>
            <a:pPr>
              <a:spcAft>
                <a:spcPts val="1000"/>
              </a:spcAft>
              <a:defRPr sz="1600" b="1">
                <a:solidFill>
                  <a:srgbClr val="051C2C"/>
                </a:solidFill>
                <a:latin typeface="Gelasio"/>
              </a:defRPr>
            </a:pPr>
            <a:r>
              <a:t>Infratuzilmani Tayyorlash</a:t>
            </a:r>
          </a:p>
          <a:p>
            <a:pPr>
              <a:defRPr sz="1300">
                <a:solidFill>
                  <a:srgbClr val="4E5B66"/>
                </a:solidFill>
                <a:latin typeface="Arimo"/>
              </a:defRPr>
            </a:pPr>
            <a:r>
              <a:t>Korxona ichki ma'lumotlar bazasini tartibga solish va xavfsiz integratsiyani ta'minlash.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3393338" cy="7315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99178" y="2011680"/>
            <a:ext cx="3393338" cy="406908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bIns="177800" lIns="203200" rIns="203200"/>
          <a:lstStyle/>
          <a:p>
            <a:pPr algn="ctr">
              <a:spcAft>
                <a:spcPts val="1200"/>
              </a:spcAft>
              <a:defRPr sz="1100" b="1">
                <a:solidFill>
                  <a:srgbClr val="051C2C"/>
                </a:solidFill>
                <a:latin typeface="Arimo"/>
              </a:defRPr>
            </a:pPr>
            <a:r>
              <a:t>02. AMALIY TAVSIYA</a:t>
            </a:r>
          </a:p>
          <a:p>
            <a:pPr>
              <a:spcAft>
                <a:spcPts val="1000"/>
              </a:spcAft>
              <a:defRPr sz="1600" b="1">
                <a:solidFill>
                  <a:srgbClr val="051C2C"/>
                </a:solidFill>
                <a:latin typeface="Gelasio"/>
              </a:defRPr>
            </a:pPr>
            <a:r>
              <a:t>Xodimlarni O'qitish</a:t>
            </a:r>
          </a:p>
          <a:p>
            <a:pPr>
              <a:defRPr sz="1300">
                <a:solidFill>
                  <a:srgbClr val="4E5B66"/>
                </a:solidFill>
                <a:latin typeface="Arimo"/>
              </a:defRPr>
            </a:pPr>
            <a:r>
              <a:t>Jamoaga zamonaviy AI instrumentlaridan foydalanish ko'nikmalarini singdirish.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99178" y="2011680"/>
            <a:ext cx="3393338" cy="7315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66836" y="2011680"/>
            <a:ext cx="3393338" cy="406908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bIns="177800" lIns="203200" rIns="203200"/>
          <a:lstStyle/>
          <a:p>
            <a:pPr algn="ctr">
              <a:spcAft>
                <a:spcPts val="1200"/>
              </a:spcAft>
              <a:defRPr sz="1100" b="1">
                <a:solidFill>
                  <a:srgbClr val="051C2C"/>
                </a:solidFill>
                <a:latin typeface="Arimo"/>
              </a:defRPr>
            </a:pPr>
            <a:r>
              <a:t>03. KUTILAYOTGAN NATIJA</a:t>
            </a:r>
          </a:p>
          <a:p>
            <a:pPr>
              <a:spcAft>
                <a:spcPts val="1000"/>
              </a:spcAft>
              <a:defRPr sz="1600" b="1">
                <a:solidFill>
                  <a:srgbClr val="051C2C"/>
                </a:solidFill>
                <a:latin typeface="Gelasio"/>
              </a:defRPr>
            </a:pPr>
            <a:r>
              <a:t>Doimiy Monitoring</a:t>
            </a:r>
          </a:p>
          <a:p>
            <a:pPr>
              <a:defRPr sz="1300">
                <a:solidFill>
                  <a:srgbClr val="4E5B66"/>
                </a:solidFill>
                <a:latin typeface="Arimo"/>
              </a:defRPr>
            </a:pPr>
            <a:r>
              <a:t>Olingan natijalarni o'lchab borish va algoritmlarni biznes talablariga moslab optimallashtirish.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66836" y="2011680"/>
            <a:ext cx="3393338" cy="7315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327648"/>
            <a:ext cx="10728655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50">
                <a:solidFill>
                  <a:srgbClr val="8A97A3"/>
                </a:solidFill>
                <a:latin typeface="Arimo"/>
              </a:defRPr>
            </a:pPr>
            <a:r>
              <a:t>SlydAI  •  MCKINSEY-STYLE                             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