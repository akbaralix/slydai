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931920" y="1005840"/>
            <a:ext cx="4327855" cy="438912"/>
          </a:xfrm>
          <a:prstGeom prst="roundRect">
            <a:avLst/>
          </a:prstGeom>
          <a:solidFill>
            <a:srgbClr val="EEF2F7"/>
          </a:solidFill>
          <a:ln w="1905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1100" b="1">
                <a:solidFill>
                  <a:srgbClr val="1F3A5F"/>
                </a:solidFill>
                <a:latin typeface="Inter"/>
              </a:defRPr>
            </a:pPr>
            <a:r>
              <a:t>SLYDAI  •  BOARDROOM EDITION</a:t>
            </a:r>
          </a:p>
        </p:txBody>
      </p:sp>
      <p:sp>
        <p:nvSpPr>
          <p:cNvPr id="5" name="Rounded Rectangle 4"/>
          <p:cNvSpPr/>
          <p:nvPr/>
        </p:nvSpPr>
        <p:spPr>
          <a:xfrm>
            <a:off x="914400" y="1691640"/>
            <a:ext cx="10362895" cy="3840480"/>
          </a:xfrm>
          <a:prstGeom prst="roundRect">
            <a:avLst/>
          </a:prstGeom>
          <a:solidFill>
            <a:srgbClr val="EEF2F7"/>
          </a:solidFill>
          <a:ln w="1905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355600" bIns="254000" lIns="457200" rIns="457200"/>
          <a:lstStyle/>
          <a:p>
            <a:pPr algn="l">
              <a:spcAft>
                <a:spcPts val="1600"/>
              </a:spcAft>
              <a:defRPr sz="3000" b="1">
                <a:solidFill>
                  <a:srgbClr val="1F3A5F"/>
                </a:solidFill>
                <a:latin typeface="Source Sans 3"/>
              </a:defRPr>
            </a:pPr>
            <a:r>
              <a:t>FinTech Innovatsiyasi: Kengaytirilgan Moliyaviy Xizmatlar Uchun Sayohat</a:t>
            </a:r>
          </a:p>
          <a:p>
            <a:pPr algn="l">
              <a:spcAft>
                <a:spcPts val="2000"/>
              </a:spcAft>
              <a:defRPr sz="1700">
                <a:solidFill>
                  <a:srgbClr val="5B6B7E"/>
                </a:solidFill>
                <a:latin typeface="Inter"/>
              </a:defRPr>
            </a:pPr>
            <a:r>
              <a:t>Bozor Kamchiliklarini Bartaraf Etish va Mijozlar Tajribasini Yangilash Orqali Qiyomatli O'sishni Rag'batlantirish</a:t>
            </a:r>
          </a:p>
        </p:txBody>
      </p:sp>
      <p:sp>
        <p:nvSpPr>
          <p:cNvPr id="6" name="Rectangle 5"/>
          <p:cNvSpPr/>
          <p:nvPr/>
        </p:nvSpPr>
        <p:spPr>
          <a:xfrm>
            <a:off x="914400" y="1691640"/>
            <a:ext cx="109728" cy="3840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5715000"/>
            <a:ext cx="3246120" cy="621792"/>
          </a:xfrm>
          <a:prstGeom prst="roundRect">
            <a:avLst/>
          </a:prstGeom>
          <a:solidFill>
            <a:srgbClr val="EEF2F7"/>
          </a:solidFill>
          <a:ln w="1270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00" b="1">
                <a:solidFill>
                  <a:srgbClr val="1F3A5F"/>
                </a:solidFill>
                <a:latin typeface="Inter"/>
              </a:defRPr>
            </a:pPr>
            <a:r>
              <a:t>TAQDIMOT TURI</a:t>
            </a:r>
          </a:p>
          <a:p>
            <a:pPr>
              <a:defRPr sz="1100">
                <a:solidFill>
                  <a:srgbClr val="5B6B7E"/>
                </a:solidFill>
                <a:latin typeface="Inter"/>
              </a:defRPr>
            </a:pPr>
            <a:r>
              <a:t>Boardroom Professional Deck</a:t>
            </a:r>
          </a:p>
        </p:txBody>
      </p:sp>
      <p:sp>
        <p:nvSpPr>
          <p:cNvPr id="8" name="Rounded Rectangle 7"/>
          <p:cNvSpPr/>
          <p:nvPr/>
        </p:nvSpPr>
        <p:spPr>
          <a:xfrm>
            <a:off x="4471416" y="5715000"/>
            <a:ext cx="3246120" cy="621792"/>
          </a:xfrm>
          <a:prstGeom prst="roundRect">
            <a:avLst/>
          </a:prstGeom>
          <a:solidFill>
            <a:srgbClr val="EEF2F7"/>
          </a:solidFill>
          <a:ln w="1270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00" b="1">
                <a:solidFill>
                  <a:srgbClr val="1F3A5F"/>
                </a:solidFill>
                <a:latin typeface="Inter"/>
              </a:defRPr>
            </a:pPr>
            <a:r>
              <a:t>SLAYDLAR SONI</a:t>
            </a:r>
          </a:p>
          <a:p>
            <a:pPr>
              <a:defRPr sz="1100">
                <a:solidFill>
                  <a:srgbClr val="5B6B7E"/>
                </a:solidFill>
                <a:latin typeface="Inter"/>
              </a:defRPr>
            </a:pPr>
            <a:r>
              <a:t>5 ta to'liq slayd</a:t>
            </a:r>
          </a:p>
        </p:txBody>
      </p:sp>
      <p:sp>
        <p:nvSpPr>
          <p:cNvPr id="9" name="Rounded Rectangle 8"/>
          <p:cNvSpPr/>
          <p:nvPr/>
        </p:nvSpPr>
        <p:spPr>
          <a:xfrm>
            <a:off x="8028432" y="5715000"/>
            <a:ext cx="3246120" cy="621792"/>
          </a:xfrm>
          <a:prstGeom prst="roundRect">
            <a:avLst/>
          </a:prstGeom>
          <a:solidFill>
            <a:srgbClr val="EEF2F7"/>
          </a:solidFill>
          <a:ln w="1270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00" b="1">
                <a:solidFill>
                  <a:srgbClr val="1F3A5F"/>
                </a:solidFill>
                <a:latin typeface="Inter"/>
              </a:defRPr>
            </a:pPr>
            <a:r>
              <a:t>TAHLIL DARAJASI</a:t>
            </a:r>
          </a:p>
          <a:p>
            <a:pPr>
              <a:defRPr sz="1100">
                <a:solidFill>
                  <a:srgbClr val="5B6B7E"/>
                </a:solidFill>
                <a:latin typeface="Inter"/>
              </a:defRPr>
            </a:pPr>
            <a:r>
              <a:t>Ekspert &amp; Amaliy Yo'riqnoma</a:t>
            </a: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defRPr sz="950">
                <a:solidFill>
                  <a:srgbClr val="8E9BAA"/>
                </a:solidFill>
                <a:latin typeface="Inter"/>
              </a:defRPr>
            </a:pPr>
            <a:r>
              <a:t>SlydAI  •  BOARDROOM                             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377440" cy="329184"/>
          </a:xfrm>
          <a:prstGeom prst="roundRect">
            <a:avLst/>
          </a:prstGeom>
          <a:solidFill>
            <a:srgbClr val="EEF2F7"/>
          </a:solidFill>
          <a:ln w="127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1F3A5F"/>
                </a:solidFill>
                <a:latin typeface="Inter"/>
              </a:defRPr>
            </a:pPr>
            <a:r>
              <a:t>REJA VA MUNDARIJA</a:t>
            </a:r>
          </a:p>
        </p:txBody>
      </p:sp>
      <p:sp>
        <p:nvSpPr>
          <p:cNvPr id="5" name="TextBox 4"/>
          <p:cNvSpPr txBox="1"/>
          <p:nvPr/>
        </p:nvSpPr>
        <p:spPr>
          <a:xfrm>
            <a:off x="731520" y="868680"/>
            <a:ext cx="10728655" cy="822960"/>
          </a:xfrm>
          <a:prstGeom prst="rect">
            <a:avLst/>
          </a:prstGeom>
          <a:noFill/>
        </p:spPr>
        <p:txBody>
          <a:bodyPr wrap="square" tIns="0" bIns="0" lIns="0" rIns="0">
            <a:spAutoFit/>
          </a:bodyPr>
          <a:lstStyle/>
          <a:p>
            <a:pPr>
              <a:defRPr sz="2800" b="1">
                <a:solidFill>
                  <a:srgbClr val="1F3A5F"/>
                </a:solidFill>
                <a:latin typeface="Source Sans 3"/>
              </a:defRPr>
            </a:pPr>
            <a:r>
              <a:t>Pitch Rejasi: Qiyomatli Qadriyatlarni Yetkazib Berish Yo'li</a:t>
            </a:r>
          </a:p>
        </p:txBody>
      </p:sp>
      <p:sp>
        <p:nvSpPr>
          <p:cNvPr id="6" name="Rounded Rectangle 5"/>
          <p:cNvSpPr/>
          <p:nvPr/>
        </p:nvSpPr>
        <p:spPr>
          <a:xfrm>
            <a:off x="731520" y="1783080"/>
            <a:ext cx="10728655" cy="4187952"/>
          </a:xfrm>
          <a:prstGeom prst="roundRect">
            <a:avLst/>
          </a:prstGeom>
          <a:solidFill>
            <a:srgbClr val="EEF2F7"/>
          </a:solidFill>
          <a:ln w="1270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101600" bIns="101600" lIns="1079500" rIns="228600"/>
          <a:lstStyle/>
          <a:p>
            <a:pPr algn="ctr"/>
            <a:r>
              <a:rPr sz="1500" b="1">
                <a:solidFill>
                  <a:srgbClr val="1F3A5F"/>
                </a:solidFill>
                <a:latin typeface="Source Sans 3"/>
              </a:rPr>
              <a:t>Yo'nalish 01  —  </a:t>
            </a:r>
            <a:r>
              <a:rPr sz="1300">
                <a:solidFill>
                  <a:srgbClr val="5B6B7E"/>
                </a:solidFill>
                <a:latin typeface="Inter"/>
              </a:rPr>
              <a:t>Bozor Muammosi va Bizning Yechimimiz:** Ushbu bo'limda biz hozirgi moliyaviy xizmatlar sohasidagi asosiy kamchiliklarni tahlil qilamiz va ushbu muammolarni hal qilish uchun ishlab chiqilgan innovatsion platformamizni taqdim etamiz. Diqqat markazida samaradorlik, xavfsizlik va qulaylikni oshirish yotadi.</a:t>
            </a:r>
          </a:p>
        </p:txBody>
      </p:sp>
      <p:sp>
        <p:nvSpPr>
          <p:cNvPr id="7" name="Rounded Rectangle 6"/>
          <p:cNvSpPr/>
          <p:nvPr/>
        </p:nvSpPr>
        <p:spPr>
          <a:xfrm>
            <a:off x="914400" y="1892807"/>
            <a:ext cx="685800" cy="3968496"/>
          </a:xfrm>
          <a:prstGeom prst="roundRect">
            <a:avLst/>
          </a:prstGeom>
          <a:solidFill>
            <a:srgbClr val="FFFFFF"/>
          </a:solidFill>
          <a:ln w="127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25400" bIns="25400" lIns="25400" rIns="25400"/>
          <a:lstStyle/>
          <a:p>
            <a:pPr algn="ctr">
              <a:defRPr sz="1400" b="1">
                <a:solidFill>
                  <a:srgbClr val="1F3A5F"/>
                </a:solidFill>
                <a:latin typeface="Inter"/>
              </a:defRPr>
            </a:pPr>
            <a:r>
              <a:t>01</a:t>
            </a: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950">
                <a:solidFill>
                  <a:srgbClr val="8E9BAA"/>
                </a:solidFill>
                <a:latin typeface="Inter"/>
              </a:defRPr>
            </a:pPr>
            <a:r>
              <a:t>SlydAI  •  BOARDROOM                             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194560" cy="329184"/>
          </a:xfrm>
          <a:prstGeom prst="roundRect">
            <a:avLst/>
          </a:prstGeom>
          <a:solidFill>
            <a:srgbClr val="EEF2F7"/>
          </a:solidFill>
          <a:ln w="1270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1F3A5F"/>
                </a:solidFill>
                <a:latin typeface="Inter"/>
              </a:defRPr>
            </a:pPr>
            <a:r>
              <a:t>SLAYD 03 / 05</a:t>
            </a:r>
          </a:p>
        </p:txBody>
      </p:sp>
      <p:sp>
        <p:nvSpPr>
          <p:cNvPr id="5" name="TextBox 4"/>
          <p:cNvSpPr txBox="1"/>
          <p:nvPr/>
        </p:nvSpPr>
        <p:spPr>
          <a:xfrm>
            <a:off x="731520" y="868680"/>
            <a:ext cx="10728655" cy="960120"/>
          </a:xfrm>
          <a:prstGeom prst="rect">
            <a:avLst/>
          </a:prstGeom>
          <a:noFill/>
        </p:spPr>
        <p:txBody>
          <a:bodyPr wrap="square" tIns="0" bIns="0" lIns="0" rIns="0">
            <a:spAutoFit/>
          </a:bodyPr>
          <a:lstStyle/>
          <a:p>
            <a:pPr>
              <a:defRPr sz="2200" b="1">
                <a:solidFill>
                  <a:srgbClr val="1F3A5F"/>
                </a:solidFill>
                <a:latin typeface="Source Sans 3"/>
              </a:defRPr>
            </a:pPr>
            <a:r>
              <a:t>Mavjud Muammolar Moliyaviy Xizmatlarga Kirishni Cheklamoqda, Raqamli Yechim Talab Qilinadi</a:t>
            </a:r>
          </a:p>
          <a:p>
            <a:pPr>
              <a:spcBef>
                <a:spcPts val="300"/>
              </a:spcBef>
              <a:defRPr sz="1400">
                <a:solidFill>
                  <a:srgbClr val="5B6B7E"/>
                </a:solidFill>
                <a:latin typeface="Inter"/>
              </a:defRPr>
            </a:pPr>
            <a:r>
              <a:t>Qulaylik, Tezlik va Shaffoflikni Taklif Qiluvchi Innovatsion Platforma Orqali Ushbu Kamchiliklarni Bartaraf Etish</a:t>
            </a:r>
          </a:p>
        </p:txBody>
      </p:sp>
      <p:sp>
        <p:nvSpPr>
          <p:cNvPr id="6" name="Rounded Rectangle 5"/>
          <p:cNvSpPr/>
          <p:nvPr/>
        </p:nvSpPr>
        <p:spPr>
          <a:xfrm>
            <a:off x="731520" y="1920240"/>
            <a:ext cx="5230368" cy="4160520"/>
          </a:xfrm>
          <a:prstGeom prst="roundRect">
            <a:avLst/>
          </a:prstGeom>
          <a:solidFill>
            <a:srgbClr val="EEF2F7"/>
          </a:solidFill>
          <a:ln w="1905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203200" bIns="177800" lIns="228600" rIns="228600"/>
          <a:lstStyle/>
          <a:p>
            <a:pPr algn="ctr">
              <a:spcAft>
                <a:spcPts val="1200"/>
              </a:spcAft>
              <a:defRPr sz="1500" b="1">
                <a:solidFill>
                  <a:srgbClr val="1F3A5F"/>
                </a:solidFill>
                <a:latin typeface="Source Sans 3"/>
              </a:defRPr>
            </a:pPr>
            <a:r>
              <a:t>Asosiy Tushunchalar va Tahlil</a:t>
            </a:r>
          </a:p>
          <a:p>
            <a:pPr>
              <a:spcAft>
                <a:spcPts val="1200"/>
              </a:spcAft>
            </a:pPr>
            <a:r>
              <a:rPr sz="1300">
                <a:solidFill>
                  <a:srgbClr val="5B6B7E"/>
                </a:solidFill>
                <a:latin typeface="Inter"/>
              </a:rPr>
              <a:t>• An'anaviy Moliyaviy Tizimlarning Cheklovlari:** Hozirgi bank va moliyaviy xizmatlar ko'pincha murakkab byurokratik jarayonlar, yuqori operatsion xarajatlar va uzoq ishlov berish muddatlari bilan ajralib turadi. Bu, ayniqsa, rivojlanayotgan bozorlardagi kichik va o'rta biznes (KOB) hamda cheklangan moliyaviy imkoniyatlarga ega shaxslar uchun moliyaviy xizmatlardan samarali foydalanishni qiyinlashtiradi.</a:t>
            </a:r>
          </a:p>
        </p:txBody>
      </p:sp>
      <p:sp>
        <p:nvSpPr>
          <p:cNvPr id="7" name="Rectangle 6"/>
          <p:cNvSpPr/>
          <p:nvPr/>
        </p:nvSpPr>
        <p:spPr>
          <a:xfrm>
            <a:off x="731520" y="1920240"/>
            <a:ext cx="5230368"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29807" y="1920240"/>
            <a:ext cx="5230368" cy="4160520"/>
          </a:xfrm>
          <a:prstGeom prst="roundRect">
            <a:avLst/>
          </a:prstGeom>
          <a:solidFill>
            <a:srgbClr val="EEF2F7"/>
          </a:solidFill>
          <a:ln w="1905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203200" bIns="177800" lIns="228600" rIns="228600"/>
          <a:lstStyle/>
          <a:p>
            <a:pPr algn="ctr">
              <a:spcAft>
                <a:spcPts val="1200"/>
              </a:spcAft>
              <a:defRPr sz="1500" b="1">
                <a:solidFill>
                  <a:srgbClr val="1F3A5F"/>
                </a:solidFill>
                <a:latin typeface="Source Sans 3"/>
              </a:defRPr>
            </a:pPr>
            <a:r>
              <a:t>Amaliy Tatbiq va Strategik Natijalar</a:t>
            </a:r>
          </a:p>
          <a:p>
            <a:pPr>
              <a:spcAft>
                <a:spcPts val="1200"/>
              </a:spcAft>
            </a:pPr>
            <a:r>
              <a:rPr sz="1300">
                <a:solidFill>
                  <a:srgbClr val="5B6B7E"/>
                </a:solidFill>
                <a:latin typeface="Inter"/>
              </a:rPr>
              <a:t>• An'anaviy Moliyaviy Tizimlarning Cheklovlari:** Hozirgi bank va moliyaviy xizmatlar ko'pincha murakkab byurokratik jarayonlar, yuqori operatsion xarajatlar va uzoq ishlov berish muddatlari bilan ajralib turadi. Bu, ayniqsa, rivojlanayotgan bozorlardagi kichik va o'rta biznes (KOB) hamda cheklangan moliyaviy imkoniyatlarga ega shaxslar uchun moliyaviy xizmatlardan samarali foydalanishni qiyinlashtiradi.</a:t>
            </a:r>
          </a:p>
        </p:txBody>
      </p:sp>
      <p:sp>
        <p:nvSpPr>
          <p:cNvPr id="9" name="Rectangle 8"/>
          <p:cNvSpPr/>
          <p:nvPr/>
        </p:nvSpPr>
        <p:spPr>
          <a:xfrm>
            <a:off x="6229807" y="1920240"/>
            <a:ext cx="5230368"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defRPr sz="950">
                <a:solidFill>
                  <a:srgbClr val="8E9BAA"/>
                </a:solidFill>
                <a:latin typeface="Inter"/>
              </a:defRPr>
            </a:pPr>
            <a:r>
              <a:t>SlydAI  •  BOARDROOM                             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194560" cy="329184"/>
          </a:xfrm>
          <a:prstGeom prst="roundRect">
            <a:avLst/>
          </a:prstGeom>
          <a:solidFill>
            <a:srgbClr val="EEF2F7"/>
          </a:solidFill>
          <a:ln w="1270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1F3A5F"/>
                </a:solidFill>
                <a:latin typeface="Inter"/>
              </a:defRPr>
            </a:pPr>
            <a:r>
              <a:t>SLAYD 04 / 05</a:t>
            </a:r>
          </a:p>
        </p:txBody>
      </p:sp>
      <p:sp>
        <p:nvSpPr>
          <p:cNvPr id="5" name="TextBox 4"/>
          <p:cNvSpPr txBox="1"/>
          <p:nvPr/>
        </p:nvSpPr>
        <p:spPr>
          <a:xfrm>
            <a:off x="731520" y="868680"/>
            <a:ext cx="10728655" cy="960120"/>
          </a:xfrm>
          <a:prstGeom prst="rect">
            <a:avLst/>
          </a:prstGeom>
          <a:noFill/>
        </p:spPr>
        <p:txBody>
          <a:bodyPr wrap="square" tIns="0" bIns="0" lIns="0" rIns="0">
            <a:spAutoFit/>
          </a:bodyPr>
          <a:lstStyle/>
          <a:p>
            <a:pPr>
              <a:defRPr sz="2200" b="1">
                <a:solidFill>
                  <a:srgbClr val="1F3A5F"/>
                </a:solidFill>
                <a:latin typeface="Source Sans 3"/>
              </a:defRPr>
            </a:pPr>
            <a:r>
              <a:t>FinTech Bozori Katta O'sish Potensialiga Ega, Bizning Modeli Barqaror Daromadni Ta'minlaydi</a:t>
            </a:r>
          </a:p>
          <a:p>
            <a:pPr>
              <a:spcBef>
                <a:spcPts val="300"/>
              </a:spcBef>
              <a:defRPr sz="1400">
                <a:solidFill>
                  <a:srgbClr val="5B6B7E"/>
                </a:solidFill>
                <a:latin typeface="Inter"/>
              </a:defRPr>
            </a:pPr>
            <a:r>
              <a:t>Raqobatbardosh Afzalliklar va Diversifikatsiyalangan Daromad Oqimlari Orqali Bozor Ulushini Egallash Strategiyasi</a:t>
            </a:r>
          </a:p>
        </p:txBody>
      </p:sp>
      <p:sp>
        <p:nvSpPr>
          <p:cNvPr id="6" name="Rounded Rectangle 5"/>
          <p:cNvSpPr/>
          <p:nvPr/>
        </p:nvSpPr>
        <p:spPr>
          <a:xfrm>
            <a:off x="731520" y="1920240"/>
            <a:ext cx="10728655" cy="4160520"/>
          </a:xfrm>
          <a:prstGeom prst="roundRect">
            <a:avLst/>
          </a:prstGeom>
          <a:solidFill>
            <a:srgbClr val="EEF2F7"/>
          </a:solidFill>
          <a:ln w="1905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203200" bIns="177800" lIns="203200" rIns="203200"/>
          <a:lstStyle/>
          <a:p>
            <a:pPr algn="ctr">
              <a:spcAft>
                <a:spcPts val="1000"/>
              </a:spcAft>
              <a:defRPr sz="1100" b="1">
                <a:solidFill>
                  <a:srgbClr val="1F3A5F"/>
                </a:solidFill>
                <a:latin typeface="Inter"/>
              </a:defRPr>
            </a:pPr>
            <a:r>
              <a:t>USTUN 01</a:t>
            </a:r>
          </a:p>
          <a:p>
            <a:pPr>
              <a:defRPr sz="1300">
                <a:solidFill>
                  <a:srgbClr val="5B6B7E"/>
                </a:solidFill>
                <a:latin typeface="Inter"/>
              </a:defRPr>
            </a:pPr>
            <a:r>
              <a:t>Global FinTech Bozorining O'sishi:** Global FinTech bozori 2023 yilda $266.3 milliardga baholangan bo'lib, 2030 yilga kelib yillik o'rtacha 19.8% murakkab o'sish sur'ati bilan $1.5 trillionga yetishi kutilmoqda. Bu ayniqsa rivojlanayotgan bozorlarda raqamli moliyaviy xizmatlarga bo'lgan talabning keskin o'sishini va texnologik innovatsiyalarga bo'lgan ehtiyojni aks ettiradi.</a:t>
            </a:r>
          </a:p>
        </p:txBody>
      </p:sp>
      <p:sp>
        <p:nvSpPr>
          <p:cNvPr id="7" name="Rectangle 6"/>
          <p:cNvSpPr/>
          <p:nvPr/>
        </p:nvSpPr>
        <p:spPr>
          <a:xfrm>
            <a:off x="731520" y="1920240"/>
            <a:ext cx="10728655"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950">
                <a:solidFill>
                  <a:srgbClr val="8E9BAA"/>
                </a:solidFill>
                <a:latin typeface="Inter"/>
              </a:defRPr>
            </a:pPr>
            <a:r>
              <a:t>SlydAI  •  BOARDROOM                             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931920" y="502920"/>
            <a:ext cx="4327855" cy="329184"/>
          </a:xfrm>
          <a:prstGeom prst="roundRect">
            <a:avLst/>
          </a:prstGeom>
          <a:solidFill>
            <a:srgbClr val="EEF2F7"/>
          </a:solidFill>
          <a:ln w="127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000" b="1">
                <a:solidFill>
                  <a:srgbClr val="1F3A5F"/>
                </a:solidFill>
                <a:latin typeface="Inter"/>
              </a:defRPr>
            </a:pPr>
            <a:r>
              <a:t>XULOSA VA STRATEGIK TAVSIYALAR</a:t>
            </a:r>
          </a:p>
        </p:txBody>
      </p:sp>
      <p:sp>
        <p:nvSpPr>
          <p:cNvPr id="5" name="TextBox 4"/>
          <p:cNvSpPr txBox="1"/>
          <p:nvPr/>
        </p:nvSpPr>
        <p:spPr>
          <a:xfrm>
            <a:off x="731520" y="868680"/>
            <a:ext cx="10728655" cy="1005840"/>
          </a:xfrm>
          <a:prstGeom prst="rect">
            <a:avLst/>
          </a:prstGeom>
          <a:noFill/>
        </p:spPr>
        <p:txBody>
          <a:bodyPr wrap="square" tIns="0" bIns="0" lIns="0" rIns="0">
            <a:spAutoFit/>
          </a:bodyPr>
          <a:lstStyle/>
          <a:p>
            <a:pPr algn="ctr">
              <a:defRPr sz="2800" b="1">
                <a:solidFill>
                  <a:srgbClr val="1F3A5F"/>
                </a:solidFill>
                <a:latin typeface="Source Sans 3"/>
              </a:defRPr>
            </a:pPr>
            <a:r>
              <a:t>Investitsiya Taklifi: FinTech Inqilobida Yetakchilikni Qo'lga Kiritish Imkoniyati</a:t>
            </a:r>
          </a:p>
          <a:p>
            <a:pPr algn="ctr">
              <a:spcBef>
                <a:spcPts val="400"/>
              </a:spcBef>
              <a:defRPr sz="1400">
                <a:solidFill>
                  <a:srgbClr val="5B6B7E"/>
                </a:solidFill>
                <a:latin typeface="Inter"/>
              </a:defRPr>
            </a:pPr>
            <a:r>
              <a:t>Katta Bozor Salohiyatini Ishga Solish Va Moliyaviy Xizmatlarni Qayta Ta'riflash Uchun Strategik Hamkorlik</a:t>
            </a:r>
          </a:p>
        </p:txBody>
      </p:sp>
      <p:sp>
        <p:nvSpPr>
          <p:cNvPr id="6" name="Rounded Rectangle 5"/>
          <p:cNvSpPr/>
          <p:nvPr/>
        </p:nvSpPr>
        <p:spPr>
          <a:xfrm>
            <a:off x="731520" y="2011680"/>
            <a:ext cx="10728655" cy="4069080"/>
          </a:xfrm>
          <a:prstGeom prst="roundRect">
            <a:avLst/>
          </a:prstGeom>
          <a:solidFill>
            <a:srgbClr val="EEF2F7"/>
          </a:solidFill>
          <a:ln w="19050">
            <a:solidFill>
              <a:srgbClr val="D5DCE4"/>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03200" rIns="203200"/>
          <a:lstStyle/>
          <a:p>
            <a:pPr algn="ctr">
              <a:spcAft>
                <a:spcPts val="1200"/>
              </a:spcAft>
              <a:defRPr sz="1100" b="1">
                <a:solidFill>
                  <a:srgbClr val="1F3A5F"/>
                </a:solidFill>
                <a:latin typeface="Inter"/>
              </a:defRPr>
            </a:pPr>
            <a:r>
              <a:t>01. ASOSIY XULOSA</a:t>
            </a:r>
          </a:p>
          <a:p>
            <a:pPr>
              <a:defRPr sz="1300">
                <a:solidFill>
                  <a:srgbClr val="5B6B7E"/>
                </a:solidFill>
                <a:latin typeface="Inter"/>
              </a:defRPr>
            </a:pPr>
            <a:r>
              <a:t>Asosiy Xulosalar:** Bizning platformamiz moliyaviy xizmatlardagi mavjud global muammolarni hal qilish uchun innovatsion yechim taqdim etadi. U ulkan bozor imkoniyatlariga ega, ilg'or texnologiyalardan foydalanadi va barqaror daromad hamda tez o'sishni ta'minlovchi diversifikatsiyalangan biznes modeliga ega.</a:t>
            </a:r>
          </a:p>
        </p:txBody>
      </p:sp>
      <p:sp>
        <p:nvSpPr>
          <p:cNvPr id="7" name="Rectangle 6"/>
          <p:cNvSpPr/>
          <p:nvPr/>
        </p:nvSpPr>
        <p:spPr>
          <a:xfrm>
            <a:off x="731520" y="2011680"/>
            <a:ext cx="10728655"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950">
                <a:solidFill>
                  <a:srgbClr val="8E9BAA"/>
                </a:solidFill>
                <a:latin typeface="Inter"/>
              </a:defRPr>
            </a:pPr>
            <a:r>
              <a:t>SlydAI  •  BOARDROOM                             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