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31920" y="1005840"/>
            <a:ext cx="4327855" cy="438912"/>
          </a:xfrm>
          <a:prstGeom prst="roundRect">
            <a:avLst/>
          </a:prstGeom>
          <a:solidFill>
            <a:srgbClr val="1D1D1F"/>
          </a:solidFill>
          <a:ln w="1905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1100" b="1">
                <a:solidFill>
                  <a:srgbClr val="0071E3"/>
                </a:solidFill>
                <a:latin typeface="Source Sans 3"/>
              </a:defRPr>
            </a:pPr>
            <a:r>
              <a:t>SLYDAI  •  KEYNOTE-MINIMAL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362895" cy="3840480"/>
          </a:xfrm>
          <a:prstGeom prst="roundRect">
            <a:avLst/>
          </a:prstGeom>
          <a:solidFill>
            <a:srgbClr val="1D1D1F"/>
          </a:solidFill>
          <a:ln w="1905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55600" bIns="254000" lIns="457200" rIns="457200"/>
          <a:lstStyle/>
          <a:p>
            <a:pPr algn="l">
              <a:spcAft>
                <a:spcPts val="1600"/>
              </a:spcAft>
              <a:defRPr sz="3600" b="1">
                <a:solidFill>
                  <a:srgbClr val="F5F5F7"/>
                </a:solidFill>
                <a:latin typeface="Inter"/>
              </a:defRPr>
            </a:pPr>
            <a:r>
              <a:t>Sun'iy Intellekt va Kelajak Texnologiyalari</a:t>
            </a:r>
          </a:p>
          <a:p>
            <a:pPr algn="l">
              <a:spcAft>
                <a:spcPts val="2000"/>
              </a:spcAft>
              <a:defRPr sz="1700">
                <a:solidFill>
                  <a:srgbClr val="D2D2D7"/>
                </a:solidFill>
                <a:latin typeface="Source Sans 3"/>
              </a:defRPr>
            </a:pPr>
            <a:r>
              <a:t>Biznes va Ta'limda Transformatsiya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9728" cy="38404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715000"/>
            <a:ext cx="3246120" cy="621792"/>
          </a:xfrm>
          <a:prstGeom prst="roundRect">
            <a:avLst/>
          </a:prstGeom>
          <a:solidFill>
            <a:srgbClr val="1D1D1F"/>
          </a:solidFill>
          <a:ln w="127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0071E3"/>
                </a:solidFill>
                <a:latin typeface="Source Sans 3"/>
              </a:defRPr>
            </a:pPr>
            <a:r>
              <a:t>TAQDIMOT TURI</a:t>
            </a:r>
          </a:p>
          <a:p>
            <a:pPr>
              <a:defRPr sz="1100">
                <a:solidFill>
                  <a:srgbClr val="D2D2D7"/>
                </a:solidFill>
                <a:latin typeface="Source Sans 3"/>
              </a:defRPr>
            </a:pPr>
            <a:r>
              <a:t>Keynote-Minimal Professional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1416" y="5715000"/>
            <a:ext cx="3246120" cy="621792"/>
          </a:xfrm>
          <a:prstGeom prst="roundRect">
            <a:avLst/>
          </a:prstGeom>
          <a:solidFill>
            <a:srgbClr val="1D1D1F"/>
          </a:solidFill>
          <a:ln w="127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0071E3"/>
                </a:solidFill>
                <a:latin typeface="Source Sans 3"/>
              </a:defRPr>
            </a:pPr>
            <a:r>
              <a:t>SLAYDLAR SONI</a:t>
            </a:r>
          </a:p>
          <a:p>
            <a:pPr>
              <a:defRPr sz="1100">
                <a:solidFill>
                  <a:srgbClr val="D2D2D7"/>
                </a:solidFill>
                <a:latin typeface="Source Sans 3"/>
              </a:defRPr>
            </a:pPr>
            <a:r>
              <a:t>4 ta to'liq slayd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5715000"/>
            <a:ext cx="3246120" cy="621792"/>
          </a:xfrm>
          <a:prstGeom prst="roundRect">
            <a:avLst/>
          </a:prstGeom>
          <a:solidFill>
            <a:srgbClr val="1D1D1F"/>
          </a:solidFill>
          <a:ln w="127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0071E3"/>
                </a:solidFill>
                <a:latin typeface="Source Sans 3"/>
              </a:defRPr>
            </a:pPr>
            <a:r>
              <a:t>TAHLIL DARAJASI</a:t>
            </a:r>
          </a:p>
          <a:p>
            <a:pPr>
              <a:defRPr sz="1100">
                <a:solidFill>
                  <a:srgbClr val="D2D2D7"/>
                </a:solidFill>
                <a:latin typeface="Source Sans 3"/>
              </a:defRPr>
            </a:pPr>
            <a:r>
              <a:t>Ekspert &amp; Amaliy Yo'riqnoma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6868B"/>
                </a:solidFill>
                <a:latin typeface="Source Sans 3"/>
              </a:defRPr>
            </a:pPr>
            <a:r>
              <a:t>SlydAI  •  KEYNOTE-MINIMAL                         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377440" cy="329184"/>
          </a:xfrm>
          <a:prstGeom prst="roundRect">
            <a:avLst/>
          </a:prstGeom>
          <a:solidFill>
            <a:srgbClr val="1D1D1F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0071E3"/>
                </a:solidFill>
                <a:latin typeface="Source Sans 3"/>
              </a:defRPr>
            </a:pPr>
            <a:r>
              <a:t>REJA VA MUNDARIJA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5F5F7"/>
                </a:solidFill>
                <a:latin typeface="Inter"/>
              </a:defRPr>
            </a:pPr>
            <a:r>
              <a:t>Taqdimot Rejasi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964692"/>
          </a:xfrm>
          <a:prstGeom prst="roundRect">
            <a:avLst/>
          </a:prstGeom>
          <a:solidFill>
            <a:srgbClr val="1D1D1F"/>
          </a:solidFill>
          <a:ln w="127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F5F5F7"/>
                </a:solidFill>
                <a:latin typeface="Inter"/>
              </a:rPr>
              <a:t>AI Asoslari  —  </a:t>
            </a:r>
            <a:r>
              <a:rPr sz="1300">
                <a:solidFill>
                  <a:srgbClr val="D2D2D7"/>
                </a:solidFill>
                <a:latin typeface="Source Sans 3"/>
              </a:rPr>
              <a:t>Mashinaviy o'rganish va neyron tarmoqlar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92807"/>
            <a:ext cx="685800" cy="74523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0071E3"/>
                </a:solidFill>
                <a:latin typeface="Source Sans 3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57500"/>
            <a:ext cx="10728655" cy="964692"/>
          </a:xfrm>
          <a:prstGeom prst="roundRect">
            <a:avLst/>
          </a:prstGeom>
          <a:solidFill>
            <a:srgbClr val="1D1D1F"/>
          </a:solidFill>
          <a:ln w="127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F5F5F7"/>
                </a:solidFill>
                <a:latin typeface="Inter"/>
              </a:rPr>
              <a:t>Biznes Tadbiqi  —  </a:t>
            </a:r>
            <a:r>
              <a:rPr sz="1300">
                <a:solidFill>
                  <a:srgbClr val="D2D2D7"/>
                </a:solidFill>
                <a:latin typeface="Source Sans 3"/>
              </a:rPr>
              <a:t>Avtomatlashtirish va samaradorlikni oshirish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67228"/>
            <a:ext cx="685800" cy="74523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0071E3"/>
                </a:solidFill>
                <a:latin typeface="Source Sans 3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8655" cy="964692"/>
          </a:xfrm>
          <a:prstGeom prst="roundRect">
            <a:avLst/>
          </a:prstGeom>
          <a:solidFill>
            <a:srgbClr val="1D1D1F"/>
          </a:solidFill>
          <a:ln w="127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F5F5F7"/>
                </a:solidFill>
                <a:latin typeface="Inter"/>
              </a:rPr>
              <a:t>Xavflar va Xavfsizlik  —  </a:t>
            </a:r>
            <a:r>
              <a:rPr sz="1300">
                <a:solidFill>
                  <a:srgbClr val="D2D2D7"/>
                </a:solidFill>
                <a:latin typeface="Source Sans 3"/>
              </a:rPr>
              <a:t>Etika va ma'lumotlar maxfiyligi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41648"/>
            <a:ext cx="685800" cy="74523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0071E3"/>
                </a:solidFill>
                <a:latin typeface="Source Sans 3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06340"/>
            <a:ext cx="10728655" cy="964692"/>
          </a:xfrm>
          <a:prstGeom prst="roundRect">
            <a:avLst/>
          </a:prstGeom>
          <a:solidFill>
            <a:srgbClr val="1D1D1F"/>
          </a:solidFill>
          <a:ln w="127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F5F5F7"/>
                </a:solidFill>
                <a:latin typeface="Inter"/>
              </a:rPr>
              <a:t>Kelajak Istiqbollari  —  </a:t>
            </a:r>
            <a:r>
              <a:rPr sz="1300">
                <a:solidFill>
                  <a:srgbClr val="D2D2D7"/>
                </a:solidFill>
                <a:latin typeface="Source Sans 3"/>
              </a:rPr>
              <a:t>Keyingi 10 yillikdagi asosiy trendlar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116068"/>
            <a:ext cx="685800" cy="745236"/>
          </a:xfrm>
          <a:prstGeom prst="roundRect">
            <a:avLst/>
          </a:prstGeom>
          <a:solidFill>
            <a:srgbClr val="0A0A0C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0071E3"/>
                </a:solidFill>
                <a:latin typeface="Source Sans 3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6868B"/>
                </a:solidFill>
                <a:latin typeface="Source Sans 3"/>
              </a:defRPr>
            </a:pPr>
            <a:r>
              <a:t>SlydAI  •  KEYNOTE-MINIMAL                         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194560" cy="329184"/>
          </a:xfrm>
          <a:prstGeom prst="roundRect">
            <a:avLst/>
          </a:prstGeom>
          <a:solidFill>
            <a:srgbClr val="1D1D1F"/>
          </a:solidFill>
          <a:ln w="127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0071E3"/>
                </a:solidFill>
                <a:latin typeface="Source Sans 3"/>
              </a:defRPr>
            </a:pPr>
            <a:r>
              <a:t>SLAYD 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Sun'iy Intellektning Biznesga Ta'siri</a:t>
            </a:r>
          </a:p>
          <a:p>
            <a:pPr>
              <a:spcBef>
                <a:spcPts val="300"/>
              </a:spcBef>
              <a:defRPr sz="1400">
                <a:solidFill>
                  <a:srgbClr val="D2D2D7"/>
                </a:solidFill>
                <a:latin typeface="Source Sans 3"/>
              </a:defRPr>
            </a:pPr>
            <a:r>
              <a:t>Strategik afzalliklar va resurslarni tejash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30368" cy="4160520"/>
          </a:xfrm>
          <a:prstGeom prst="roundRect">
            <a:avLst/>
          </a:prstGeom>
          <a:solidFill>
            <a:srgbClr val="1D1D1F"/>
          </a:solidFill>
          <a:ln w="1905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bIns="177800" lIns="228600" r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0071E3"/>
                </a:solidFill>
                <a:latin typeface="Inter"/>
              </a:defRPr>
            </a:pPr>
            <a:r>
              <a:t>Asosiy Tushunchalar va Tahlil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F5F7"/>
                </a:solidFill>
                <a:latin typeface="Source Sans 3"/>
              </a:rPr>
              <a:t>• </a:t>
            </a:r>
            <a:r>
              <a:rPr sz="1300" b="1">
                <a:solidFill>
                  <a:srgbClr val="F5F5F7"/>
                </a:solidFill>
                <a:latin typeface="Source Sans 3"/>
              </a:rPr>
              <a:t>Jarayonlarni Avtomatlashtirish: </a:t>
            </a:r>
            <a:r>
              <a:rPr sz="1300">
                <a:solidFill>
                  <a:srgbClr val="D2D2D7"/>
                </a:solidFill>
                <a:latin typeface="Source Sans 3"/>
              </a:rPr>
              <a:t>Rutin va takrorlanuvchi operatsiyalarni to'liq avtomatlashtirish orqali inson resurslarini strategik vazifalarga yo'naltirish va operatsion xarajatlarni 40% gacha qisqartirish imkoniyati.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F5F7"/>
                </a:solidFill>
                <a:latin typeface="Source Sans 3"/>
              </a:rPr>
              <a:t>• </a:t>
            </a:r>
            <a:r>
              <a:rPr sz="1300" b="1">
                <a:solidFill>
                  <a:srgbClr val="F5F5F7"/>
                </a:solidFill>
                <a:latin typeface="Source Sans 3"/>
              </a:rPr>
              <a:t>Katta Ma'lumotlar Tahlili: </a:t>
            </a:r>
            <a:r>
              <a:rPr sz="1300">
                <a:solidFill>
                  <a:srgbClr val="D2D2D7"/>
                </a:solidFill>
                <a:latin typeface="Source Sans 3"/>
              </a:rPr>
              <a:t>Katta hajmdagi biznes ma'lumotlarini real vaqt rejimida qayta ishlash, mijozlar xulq-atvorini prognoz qilish va aniq qarorlar qabul qilish tizimi.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30368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29807" y="1920240"/>
            <a:ext cx="5230368" cy="4160520"/>
          </a:xfrm>
          <a:prstGeom prst="roundRect">
            <a:avLst/>
          </a:prstGeom>
          <a:solidFill>
            <a:srgbClr val="1D1D1F"/>
          </a:solidFill>
          <a:ln w="1905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bIns="177800" lIns="228600" r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0071E3"/>
                </a:solidFill>
                <a:latin typeface="Inter"/>
              </a:defRPr>
            </a:pPr>
            <a:r>
              <a:t>Amaliy Tatbiq va Strategik Natijalar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F5F7"/>
                </a:solidFill>
                <a:latin typeface="Source Sans 3"/>
              </a:rPr>
              <a:t>• </a:t>
            </a:r>
            <a:r>
              <a:rPr sz="1300" b="1">
                <a:solidFill>
                  <a:srgbClr val="F5F5F7"/>
                </a:solidFill>
                <a:latin typeface="Source Sans 3"/>
              </a:rPr>
              <a:t>Mijozlar Tajribasini Yaxshilash: </a:t>
            </a:r>
            <a:r>
              <a:rPr sz="1300">
                <a:solidFill>
                  <a:srgbClr val="D2D2D7"/>
                </a:solidFill>
                <a:latin typeface="Source Sans 3"/>
              </a:rPr>
              <a:t>AI yordamidagi shaxsiylashtirilgan takliflar va 24/7 ishlaydigan aqlli yordamchilar orqali konversiya va sodiqlikni sezilarli oshirish.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9807" y="1920240"/>
            <a:ext cx="5230368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6868B"/>
                </a:solidFill>
                <a:latin typeface="Source Sans 3"/>
              </a:defRPr>
            </a:pPr>
            <a:r>
              <a:t>SlydAI  •  KEYNOTE-MINIMAL                         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31920" y="502920"/>
            <a:ext cx="4327855" cy="329184"/>
          </a:xfrm>
          <a:prstGeom prst="roundRect">
            <a:avLst/>
          </a:prstGeom>
          <a:solidFill>
            <a:srgbClr val="1D1D1F"/>
          </a:solidFill>
          <a:ln w="127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0071E3"/>
                </a:solidFill>
                <a:latin typeface="Source Sans 3"/>
              </a:defRPr>
            </a:pPr>
            <a:r>
              <a:t>XULOSA VA STRATEGIK TAVSIYALAR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800" b="1">
                <a:solidFill>
                  <a:srgbClr val="F5F5F7"/>
                </a:solidFill>
                <a:latin typeface="Inter"/>
              </a:defRPr>
            </a:pPr>
            <a:r>
              <a:t>Yakuniy Xulosa va Harakatlar Rejasi</a:t>
            </a:r>
          </a:p>
          <a:p>
            <a:pPr algn="ctr">
              <a:spcBef>
                <a:spcPts val="400"/>
              </a:spcBef>
              <a:defRPr sz="1400">
                <a:solidFill>
                  <a:srgbClr val="D2D2D7"/>
                </a:solidFill>
                <a:latin typeface="Source Sans 3"/>
              </a:defRPr>
            </a:pPr>
            <a:r>
              <a:t>Tizimli transformatsiya uchun 3 muhim qadam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93338" cy="4069080"/>
          </a:xfrm>
          <a:prstGeom prst="roundRect">
            <a:avLst/>
          </a:prstGeom>
          <a:solidFill>
            <a:srgbClr val="1D1D1F"/>
          </a:solidFill>
          <a:ln w="1905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03200" rIns="203200"/>
          <a:lstStyle/>
          <a:p>
            <a:pPr algn="ctr">
              <a:spcAft>
                <a:spcPts val="1200"/>
              </a:spcAft>
              <a:defRPr sz="1100" b="1">
                <a:solidFill>
                  <a:srgbClr val="0071E3"/>
                </a:solidFill>
                <a:latin typeface="Source Sans 3"/>
              </a:defRPr>
            </a:pPr>
            <a:r>
              <a:t>01. ASOSIY XULOSA</a:t>
            </a:r>
          </a:p>
          <a:p>
            <a:pPr>
              <a:spcAft>
                <a:spcPts val="1000"/>
              </a:spcAft>
              <a:defRPr sz="1600" b="1">
                <a:solidFill>
                  <a:srgbClr val="F5F5F7"/>
                </a:solidFill>
                <a:latin typeface="Inter"/>
              </a:defRPr>
            </a:pPr>
            <a:r>
              <a:t>Infratuzilmani Tayyorlash</a:t>
            </a:r>
          </a:p>
          <a:p>
            <a:pPr>
              <a:defRPr sz="1300">
                <a:solidFill>
                  <a:srgbClr val="D2D2D7"/>
                </a:solidFill>
                <a:latin typeface="Source Sans 3"/>
              </a:defRPr>
            </a:pPr>
            <a:r>
              <a:t>Korxona ichki ma'lumotlar bazasini tartibga solish va xavfsiz integratsiyani ta'minlash.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393338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99178" y="2011680"/>
            <a:ext cx="3393338" cy="4069080"/>
          </a:xfrm>
          <a:prstGeom prst="roundRect">
            <a:avLst/>
          </a:prstGeom>
          <a:solidFill>
            <a:srgbClr val="1D1D1F"/>
          </a:solidFill>
          <a:ln w="1905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03200" rIns="203200"/>
          <a:lstStyle/>
          <a:p>
            <a:pPr algn="ctr">
              <a:spcAft>
                <a:spcPts val="1200"/>
              </a:spcAft>
              <a:defRPr sz="1100" b="1">
                <a:solidFill>
                  <a:srgbClr val="0071E3"/>
                </a:solidFill>
                <a:latin typeface="Source Sans 3"/>
              </a:defRPr>
            </a:pPr>
            <a:r>
              <a:t>02. AMALIY TAVSIYA</a:t>
            </a:r>
          </a:p>
          <a:p>
            <a:pPr>
              <a:spcAft>
                <a:spcPts val="1000"/>
              </a:spcAft>
              <a:defRPr sz="1600" b="1">
                <a:solidFill>
                  <a:srgbClr val="F5F5F7"/>
                </a:solidFill>
                <a:latin typeface="Inter"/>
              </a:defRPr>
            </a:pPr>
            <a:r>
              <a:t>Xodimlarni O'qitish</a:t>
            </a:r>
          </a:p>
          <a:p>
            <a:pPr>
              <a:defRPr sz="1300">
                <a:solidFill>
                  <a:srgbClr val="D2D2D7"/>
                </a:solidFill>
                <a:latin typeface="Source Sans 3"/>
              </a:defRPr>
            </a:pPr>
            <a:r>
              <a:t>Jamoaga zamonaviy AI instrumentlaridan foydalanish ko'nikmalarini singdirish.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2011680"/>
            <a:ext cx="3393338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66836" y="2011680"/>
            <a:ext cx="3393338" cy="4069080"/>
          </a:xfrm>
          <a:prstGeom prst="roundRect">
            <a:avLst/>
          </a:prstGeom>
          <a:solidFill>
            <a:srgbClr val="1D1D1F"/>
          </a:solidFill>
          <a:ln w="1905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03200" rIns="203200"/>
          <a:lstStyle/>
          <a:p>
            <a:pPr algn="ctr">
              <a:spcAft>
                <a:spcPts val="1200"/>
              </a:spcAft>
              <a:defRPr sz="1100" b="1">
                <a:solidFill>
                  <a:srgbClr val="0071E3"/>
                </a:solidFill>
                <a:latin typeface="Source Sans 3"/>
              </a:defRPr>
            </a:pPr>
            <a:r>
              <a:t>03. KUTILAYOTGAN NATIJA</a:t>
            </a:r>
          </a:p>
          <a:p>
            <a:pPr>
              <a:spcAft>
                <a:spcPts val="1000"/>
              </a:spcAft>
              <a:defRPr sz="1600" b="1">
                <a:solidFill>
                  <a:srgbClr val="F5F5F7"/>
                </a:solidFill>
                <a:latin typeface="Inter"/>
              </a:defRPr>
            </a:pPr>
            <a:r>
              <a:t>Doimiy Monitoring</a:t>
            </a:r>
          </a:p>
          <a:p>
            <a:pPr>
              <a:defRPr sz="1300">
                <a:solidFill>
                  <a:srgbClr val="D2D2D7"/>
                </a:solidFill>
                <a:latin typeface="Source Sans 3"/>
              </a:defRPr>
            </a:pPr>
            <a:r>
              <a:t>Olingan natijalarni o'lchab borish va algoritmlarni biznes talablariga moslab optimallashtirish.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2011680"/>
            <a:ext cx="3393338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6868B"/>
                </a:solidFill>
                <a:latin typeface="Source Sans 3"/>
              </a:defRPr>
            </a:pPr>
            <a:r>
              <a:t>SlydAI  •  KEYNOTE-MINIMAL                         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