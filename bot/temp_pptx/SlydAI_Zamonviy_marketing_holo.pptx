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31920" y="1005840"/>
            <a:ext cx="4327855" cy="438912"/>
          </a:xfrm>
          <a:prstGeom prst="roundRect">
            <a:avLst/>
          </a:prstGeom>
          <a:solidFill>
            <a:srgbClr val="FFFFFF"/>
          </a:solidFill>
          <a:ln w="19050">
            <a:solidFill>
              <a:srgbClr val="C3B7FF"/>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1100" b="1">
                <a:solidFill>
                  <a:srgbClr val="C3B7FF"/>
                </a:solidFill>
                <a:latin typeface="Inter"/>
              </a:defRPr>
            </a:pPr>
            <a:r>
              <a:t>SLYDAI  •  HOLO EDITION</a:t>
            </a:r>
          </a:p>
        </p:txBody>
      </p:sp>
      <p:sp>
        <p:nvSpPr>
          <p:cNvPr id="5" name="Rounded Rectangle 4"/>
          <p:cNvSpPr/>
          <p:nvPr/>
        </p:nvSpPr>
        <p:spPr>
          <a:xfrm>
            <a:off x="914400" y="1691640"/>
            <a:ext cx="10362895" cy="3840480"/>
          </a:xfrm>
          <a:prstGeom prst="roundRect">
            <a:avLst/>
          </a:prstGeom>
          <a:solidFill>
            <a:srgbClr val="FFFFFF"/>
          </a:solidFill>
          <a:ln w="1905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355600" bIns="254000" lIns="457200" rIns="457200"/>
          <a:lstStyle/>
          <a:p>
            <a:pPr algn="l">
              <a:spcAft>
                <a:spcPts val="1600"/>
              </a:spcAft>
              <a:defRPr sz="3000" b="1">
                <a:solidFill>
                  <a:srgbClr val="3A3A46"/>
                </a:solidFill>
                <a:latin typeface="Sora"/>
              </a:defRPr>
            </a:pPr>
            <a:r>
              <a:t>&lt;span style="background: linear-gradient(120deg, #FFB6E1, #C3B7FF, #9FE8FF, #B8FFD9); -webkit-background-clip: text; -webkit-text-fill-color: transparent;"&gt;Zamonviy&lt;/span&gt; Marketing: Raqamli Asrda Strategik Ustunlik</a:t>
            </a:r>
          </a:p>
          <a:p>
            <a:pPr algn="l">
              <a:spcAft>
                <a:spcPts val="2000"/>
              </a:spcAft>
              <a:defRPr sz="1700">
                <a:solidFill>
                  <a:srgbClr val="5C5C6A"/>
                </a:solidFill>
                <a:latin typeface="Inter"/>
              </a:defRPr>
            </a:pPr>
            <a:r>
              <a:t>Mijozlar Qalbiga Yo'l: Innovatsion Yondashuvlar va O'lchanadigan Natijalar</a:t>
            </a:r>
          </a:p>
        </p:txBody>
      </p:sp>
      <p:sp>
        <p:nvSpPr>
          <p:cNvPr id="6" name="Rectangle 5"/>
          <p:cNvSpPr/>
          <p:nvPr/>
        </p:nvSpPr>
        <p:spPr>
          <a:xfrm>
            <a:off x="914400" y="1691640"/>
            <a:ext cx="109728" cy="3840480"/>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5715000"/>
            <a:ext cx="3246120" cy="621792"/>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C3B7FF"/>
                </a:solidFill>
                <a:latin typeface="Inter"/>
              </a:defRPr>
            </a:pPr>
            <a:r>
              <a:t>TAQDIMOT TURI</a:t>
            </a:r>
          </a:p>
          <a:p>
            <a:pPr>
              <a:defRPr sz="1100">
                <a:solidFill>
                  <a:srgbClr val="5C5C6A"/>
                </a:solidFill>
                <a:latin typeface="Inter"/>
              </a:defRPr>
            </a:pPr>
            <a:r>
              <a:t>Holo Professional Deck</a:t>
            </a:r>
          </a:p>
        </p:txBody>
      </p:sp>
      <p:sp>
        <p:nvSpPr>
          <p:cNvPr id="8" name="Rounded Rectangle 7"/>
          <p:cNvSpPr/>
          <p:nvPr/>
        </p:nvSpPr>
        <p:spPr>
          <a:xfrm>
            <a:off x="4471416" y="5715000"/>
            <a:ext cx="3246120" cy="621792"/>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C3B7FF"/>
                </a:solidFill>
                <a:latin typeface="Inter"/>
              </a:defRPr>
            </a:pPr>
            <a:r>
              <a:t>SLAYDLAR SONI</a:t>
            </a:r>
          </a:p>
          <a:p>
            <a:pPr>
              <a:defRPr sz="1100">
                <a:solidFill>
                  <a:srgbClr val="5C5C6A"/>
                </a:solidFill>
                <a:latin typeface="Inter"/>
              </a:defRPr>
            </a:pPr>
            <a:r>
              <a:t>5 ta to'liq slayd</a:t>
            </a:r>
          </a:p>
        </p:txBody>
      </p:sp>
      <p:sp>
        <p:nvSpPr>
          <p:cNvPr id="9" name="Rounded Rectangle 8"/>
          <p:cNvSpPr/>
          <p:nvPr/>
        </p:nvSpPr>
        <p:spPr>
          <a:xfrm>
            <a:off x="8028432" y="5715000"/>
            <a:ext cx="3246120" cy="621792"/>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C3B7FF"/>
                </a:solidFill>
                <a:latin typeface="Inter"/>
              </a:defRPr>
            </a:pPr>
            <a:r>
              <a:t>TAHLIL DARAJASI</a:t>
            </a:r>
          </a:p>
          <a:p>
            <a:pPr>
              <a:defRPr sz="1100">
                <a:solidFill>
                  <a:srgbClr val="5C5C6A"/>
                </a:solidFill>
                <a:latin typeface="Inter"/>
              </a:defRPr>
            </a:pPr>
            <a:r>
              <a:t>Ekspert &amp; Amaliy Yo'riqnoma</a:t>
            </a: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950">
                <a:solidFill>
                  <a:srgbClr val="8A8A98"/>
                </a:solidFill>
                <a:latin typeface="Inter"/>
              </a:defRPr>
            </a:pPr>
            <a:r>
              <a:t>SlydAI  •  HOLO                             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377440" cy="329184"/>
          </a:xfrm>
          <a:prstGeom prst="roundRect">
            <a:avLst/>
          </a:prstGeom>
          <a:solidFill>
            <a:srgbClr val="FFFFFF"/>
          </a:solidFill>
          <a:ln w="12700">
            <a:solidFill>
              <a:srgbClr val="C3B7F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C3B7FF"/>
                </a:solidFill>
                <a:latin typeface="Inter"/>
              </a:defRPr>
            </a:pPr>
            <a:r>
              <a:t>REJA VA MUNDARIJA</a:t>
            </a:r>
          </a:p>
        </p:txBody>
      </p:sp>
      <p:sp>
        <p:nvSpPr>
          <p:cNvPr id="5" name="TextBox 4"/>
          <p:cNvSpPr txBox="1"/>
          <p:nvPr/>
        </p:nvSpPr>
        <p:spPr>
          <a:xfrm>
            <a:off x="731520" y="868680"/>
            <a:ext cx="10728655" cy="822960"/>
          </a:xfrm>
          <a:prstGeom prst="rect">
            <a:avLst/>
          </a:prstGeom>
          <a:noFill/>
        </p:spPr>
        <p:txBody>
          <a:bodyPr wrap="square" tIns="0" bIns="0" lIns="0" rIns="0">
            <a:spAutoFit/>
          </a:bodyPr>
          <a:lstStyle/>
          <a:p>
            <a:pPr>
              <a:defRPr sz="2800" b="1">
                <a:solidFill>
                  <a:srgbClr val="3A3A46"/>
                </a:solidFill>
                <a:latin typeface="Sora"/>
              </a:defRPr>
            </a:pPr>
            <a:r>
              <a:t>Taqdimot &lt;span style="background: linear-gradient(120deg, #FFB6E1, #C3B7FF, #9FE8FF, #B8FFD9); -webkit-background-clip: text; -webkit-text-fill-color: transparent;"&gt;Rejasi&lt;/span&gt;</a:t>
            </a:r>
          </a:p>
        </p:txBody>
      </p:sp>
      <p:sp>
        <p:nvSpPr>
          <p:cNvPr id="6" name="Rounded Rectangle 5"/>
          <p:cNvSpPr/>
          <p:nvPr/>
        </p:nvSpPr>
        <p:spPr>
          <a:xfrm>
            <a:off x="731520" y="1783080"/>
            <a:ext cx="10728655" cy="4187952"/>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101600" bIns="101600" lIns="1079500" rIns="228600"/>
          <a:lstStyle/>
          <a:p>
            <a:pPr algn="ctr"/>
            <a:r>
              <a:rPr sz="1500" b="1">
                <a:solidFill>
                  <a:srgbClr val="3A3A46"/>
                </a:solidFill>
                <a:latin typeface="Sora"/>
              </a:rPr>
              <a:t>Yo'nalish 01  —  </a:t>
            </a:r>
            <a:r>
              <a:rPr sz="1300">
                <a:solidFill>
                  <a:srgbClr val="5C5C6A"/>
                </a:solidFill>
                <a:latin typeface="Inter"/>
              </a:rPr>
              <a:t>Zamonviy Marketing Tushunchasi:** Raqamli ekosistemada marketingning o'zgarishi va uning biznesga ta'siri haqida umumiy tushuncha.</a:t>
            </a:r>
          </a:p>
        </p:txBody>
      </p:sp>
      <p:sp>
        <p:nvSpPr>
          <p:cNvPr id="7" name="Rounded Rectangle 6"/>
          <p:cNvSpPr/>
          <p:nvPr/>
        </p:nvSpPr>
        <p:spPr>
          <a:xfrm>
            <a:off x="914400" y="1892807"/>
            <a:ext cx="685800" cy="3968496"/>
          </a:xfrm>
          <a:prstGeom prst="roundRect">
            <a:avLst/>
          </a:prstGeom>
          <a:solidFill>
            <a:srgbClr val="FAFAFC"/>
          </a:solidFill>
          <a:ln w="12700">
            <a:solidFill>
              <a:srgbClr val="C3B7FF"/>
            </a:solidFill>
          </a:ln>
        </p:spPr>
        <p:style>
          <a:lnRef idx="1">
            <a:schemeClr val="accent1"/>
          </a:lnRef>
          <a:fillRef idx="3">
            <a:schemeClr val="accent1"/>
          </a:fillRef>
          <a:effectRef idx="2">
            <a:schemeClr val="accent1"/>
          </a:effectRef>
          <a:fontRef idx="minor">
            <a:schemeClr val="lt1"/>
          </a:fontRef>
        </p:style>
        <p:txBody>
          <a:bodyPr rtlCol="0" anchor="ctr" tIns="25400" bIns="25400" lIns="25400" rIns="25400"/>
          <a:lstStyle/>
          <a:p>
            <a:pPr algn="ctr">
              <a:defRPr sz="1400" b="1">
                <a:solidFill>
                  <a:srgbClr val="C3B7FF"/>
                </a:solidFill>
                <a:latin typeface="Inter"/>
              </a:defRPr>
            </a:pPr>
            <a:r>
              <a:t>01</a:t>
            </a: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A8A98"/>
                </a:solidFill>
                <a:latin typeface="Inter"/>
              </a:defRPr>
            </a:pPr>
            <a:r>
              <a:t>SlydAI  •  HOLO                             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194560" cy="329184"/>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C3B7FF"/>
                </a:solidFill>
                <a:latin typeface="Inter"/>
              </a:defRPr>
            </a:pPr>
            <a:r>
              <a:t>SLAYD 03 / 05</a:t>
            </a:r>
          </a:p>
        </p:txBody>
      </p:sp>
      <p:sp>
        <p:nvSpPr>
          <p:cNvPr id="5" name="TextBox 4"/>
          <p:cNvSpPr txBox="1"/>
          <p:nvPr/>
        </p:nvSpPr>
        <p:spPr>
          <a:xfrm>
            <a:off x="731520" y="868680"/>
            <a:ext cx="10728655" cy="960120"/>
          </a:xfrm>
          <a:prstGeom prst="rect">
            <a:avLst/>
          </a:prstGeom>
          <a:noFill/>
        </p:spPr>
        <p:txBody>
          <a:bodyPr wrap="square" tIns="0" bIns="0" lIns="0" rIns="0">
            <a:spAutoFit/>
          </a:bodyPr>
          <a:lstStyle/>
          <a:p>
            <a:pPr>
              <a:defRPr sz="2200" b="1">
                <a:solidFill>
                  <a:srgbClr val="3A3A46"/>
                </a:solidFill>
                <a:latin typeface="Sora"/>
              </a:defRPr>
            </a:pPr>
            <a:r>
              <a:t>Zamonviy Marketingning Asosiy &lt;span style="background: linear-gradient(120deg, #FFB6E1, #C3B7FF, #9FE8FF, #B8FFD9); -webkit-background-clip: text; -webkit-text-fill-color: transparent;"&gt;Tamoyillari&lt;/span&gt;</a:t>
            </a:r>
          </a:p>
          <a:p>
            <a:pPr>
              <a:spcBef>
                <a:spcPts val="300"/>
              </a:spcBef>
              <a:defRPr sz="1400">
                <a:solidFill>
                  <a:srgbClr val="5C5C6A"/>
                </a:solidFill>
                <a:latin typeface="Inter"/>
              </a:defRPr>
            </a:pPr>
            <a:r>
              <a:t>Raqamli Ekosistemada Muvaffaqiyat Kaliti</a:t>
            </a:r>
          </a:p>
        </p:txBody>
      </p:sp>
      <p:sp>
        <p:nvSpPr>
          <p:cNvPr id="6" name="Rounded Rectangle 5"/>
          <p:cNvSpPr/>
          <p:nvPr/>
        </p:nvSpPr>
        <p:spPr>
          <a:xfrm>
            <a:off x="731520" y="1920240"/>
            <a:ext cx="5230368" cy="4160520"/>
          </a:xfrm>
          <a:prstGeom prst="roundRect">
            <a:avLst/>
          </a:prstGeom>
          <a:solidFill>
            <a:srgbClr val="FFFFFF"/>
          </a:solidFill>
          <a:ln w="1905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28600" rIns="228600"/>
          <a:lstStyle/>
          <a:p>
            <a:pPr algn="ctr">
              <a:spcAft>
                <a:spcPts val="1200"/>
              </a:spcAft>
              <a:defRPr sz="1500" b="1">
                <a:solidFill>
                  <a:srgbClr val="C3B7FF"/>
                </a:solidFill>
                <a:latin typeface="Sora"/>
              </a:defRPr>
            </a:pPr>
            <a:r>
              <a:t>Asosiy Tushunchalar va Tahlil</a:t>
            </a:r>
          </a:p>
          <a:p>
            <a:pPr>
              <a:spcAft>
                <a:spcPts val="1200"/>
              </a:spcAft>
            </a:pPr>
            <a:r>
              <a:rPr sz="1300">
                <a:solidFill>
                  <a:srgbClr val="5C5C6A"/>
                </a:solidFill>
                <a:latin typeface="Inter"/>
              </a:rPr>
              <a:t>• Raqamli Marketing Integratsiyasi:** Veb-saytlar, ijtimoiy tarmoqlar, qidiruv tizimi optimizatsiyasi (SEO), kontent marketingi va elektron pochta kampaniyalari kabi raqamli kanallarni birlashtirish orqali mijozlar bilan izchil va ko'p qirrali aloqa o'rnatish. Bu yondashuv brendning onlayn mavjudligini kuchaytiradi va mijozlarga moslashtirilgan tajriba taqdim etadi, natijada xarid qarorlariga ta'sir o'tkazadi.</a:t>
            </a:r>
          </a:p>
        </p:txBody>
      </p:sp>
      <p:sp>
        <p:nvSpPr>
          <p:cNvPr id="7" name="Rectangle 6"/>
          <p:cNvSpPr/>
          <p:nvPr/>
        </p:nvSpPr>
        <p:spPr>
          <a:xfrm>
            <a:off x="731520" y="1920240"/>
            <a:ext cx="5230368" cy="54864"/>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29807" y="1920240"/>
            <a:ext cx="5230368" cy="4160520"/>
          </a:xfrm>
          <a:prstGeom prst="roundRect">
            <a:avLst/>
          </a:prstGeom>
          <a:solidFill>
            <a:srgbClr val="FFFFFF"/>
          </a:solidFill>
          <a:ln w="1905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28600" rIns="228600"/>
          <a:lstStyle/>
          <a:p>
            <a:pPr algn="ctr">
              <a:spcAft>
                <a:spcPts val="1200"/>
              </a:spcAft>
              <a:defRPr sz="1500" b="1">
                <a:solidFill>
                  <a:srgbClr val="C3B7FF"/>
                </a:solidFill>
                <a:latin typeface="Sora"/>
              </a:defRPr>
            </a:pPr>
            <a:r>
              <a:t>Amaliy Tatbiq va Strategik Natijalar</a:t>
            </a:r>
          </a:p>
          <a:p>
            <a:pPr>
              <a:spcAft>
                <a:spcPts val="1200"/>
              </a:spcAft>
            </a:pPr>
            <a:r>
              <a:rPr sz="1300">
                <a:solidFill>
                  <a:srgbClr val="5C5C6A"/>
                </a:solidFill>
                <a:latin typeface="Inter"/>
              </a:rPr>
              <a:t>• Raqamli Marketing Integratsiyasi:** Veb-saytlar, ijtimoiy tarmoqlar, qidiruv tizimi optimizatsiyasi (SEO), kontent marketingi va elektron pochta kampaniyalari kabi raqamli kanallarni birlashtirish orqali mijozlar bilan izchil va ko'p qirrali aloqa o'rnatish. Bu yondashuv brendning onlayn mavjudligini kuchaytiradi va mijozlarga moslashtirilgan tajriba taqdim etadi, natijada xarid qarorlariga ta'sir o'tkazadi.</a:t>
            </a:r>
          </a:p>
        </p:txBody>
      </p:sp>
      <p:sp>
        <p:nvSpPr>
          <p:cNvPr id="9" name="Rectangle 8"/>
          <p:cNvSpPr/>
          <p:nvPr/>
        </p:nvSpPr>
        <p:spPr>
          <a:xfrm>
            <a:off x="6229807" y="1920240"/>
            <a:ext cx="5230368" cy="54864"/>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950">
                <a:solidFill>
                  <a:srgbClr val="8A8A98"/>
                </a:solidFill>
                <a:latin typeface="Inter"/>
              </a:defRPr>
            </a:pPr>
            <a:r>
              <a:t>SlydAI  •  HOLO                             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194560" cy="329184"/>
          </a:xfrm>
          <a:prstGeom prst="roundRect">
            <a:avLst/>
          </a:prstGeom>
          <a:solidFill>
            <a:srgbClr val="FFFFFF"/>
          </a:solidFill>
          <a:ln w="1270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C3B7FF"/>
                </a:solidFill>
                <a:latin typeface="Inter"/>
              </a:defRPr>
            </a:pPr>
            <a:r>
              <a:t>SLAYD 04 / 05</a:t>
            </a:r>
          </a:p>
        </p:txBody>
      </p:sp>
      <p:sp>
        <p:nvSpPr>
          <p:cNvPr id="5" name="TextBox 4"/>
          <p:cNvSpPr txBox="1"/>
          <p:nvPr/>
        </p:nvSpPr>
        <p:spPr>
          <a:xfrm>
            <a:off x="731520" y="868680"/>
            <a:ext cx="10728655" cy="960120"/>
          </a:xfrm>
          <a:prstGeom prst="rect">
            <a:avLst/>
          </a:prstGeom>
          <a:noFill/>
        </p:spPr>
        <p:txBody>
          <a:bodyPr wrap="square" tIns="0" bIns="0" lIns="0" rIns="0">
            <a:spAutoFit/>
          </a:bodyPr>
          <a:lstStyle/>
          <a:p>
            <a:pPr>
              <a:defRPr sz="2200" b="1">
                <a:solidFill>
                  <a:srgbClr val="3A3A46"/>
                </a:solidFill>
                <a:latin typeface="Sora"/>
              </a:defRPr>
            </a:pPr>
            <a:r>
              <a:t>Samarali Marketing Strategiyalari va Amaliy &lt;span style="background: linear-gradient(120deg, #FFB6E1, #C3B7FF, #9FE8FF, #B8FFD9); -webkit-background-clip: text; -webkit-text-fill-color: transparent;"&gt;Yechimlar&lt;/span&gt;</a:t>
            </a:r>
          </a:p>
          <a:p>
            <a:pPr>
              <a:spcBef>
                <a:spcPts val="300"/>
              </a:spcBef>
              <a:defRPr sz="1400">
                <a:solidFill>
                  <a:srgbClr val="5C5C6A"/>
                </a:solidFill>
                <a:latin typeface="Inter"/>
              </a:defRPr>
            </a:pPr>
            <a:r>
              <a:t>Innovatsion Texnologiyalar Orqali O'sishni Rag'batlantirish</a:t>
            </a:r>
          </a:p>
        </p:txBody>
      </p:sp>
      <p:sp>
        <p:nvSpPr>
          <p:cNvPr id="6" name="Rounded Rectangle 5"/>
          <p:cNvSpPr/>
          <p:nvPr/>
        </p:nvSpPr>
        <p:spPr>
          <a:xfrm>
            <a:off x="731520" y="1920240"/>
            <a:ext cx="10728655" cy="4160520"/>
          </a:xfrm>
          <a:prstGeom prst="roundRect">
            <a:avLst/>
          </a:prstGeom>
          <a:solidFill>
            <a:srgbClr val="FFFFFF"/>
          </a:solidFill>
          <a:ln w="1905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03200" rIns="203200"/>
          <a:lstStyle/>
          <a:p>
            <a:pPr algn="ctr">
              <a:spcAft>
                <a:spcPts val="1000"/>
              </a:spcAft>
              <a:defRPr sz="1100" b="1">
                <a:solidFill>
                  <a:srgbClr val="C3B7FF"/>
                </a:solidFill>
                <a:latin typeface="Inter"/>
              </a:defRPr>
            </a:pPr>
            <a:r>
              <a:t>USTUN 01</a:t>
            </a:r>
          </a:p>
          <a:p>
            <a:pPr>
              <a:defRPr sz="1300">
                <a:solidFill>
                  <a:srgbClr val="5C5C6A"/>
                </a:solidFill>
                <a:latin typeface="Inter"/>
              </a:defRPr>
            </a:pPr>
            <a:r>
              <a:t>Sun'iy Intellekt (AI) va Mashinani O'rganish (ML) Integratsiyasi:** Marketing jarayonlarini avtomatlashtirish, mijoz xatti-harakatlarini bashorat qilish, shaxsiylashtirilgan tavsiyalar berish va samaradorlikni oshirish uchun AI/ML algoritmlaridan foydalanish. Bu mijozlar bilan o'zaro aloqalarni chuqurlashtirib, konversiya tezligini sezilarli darajada oshiradi va marketing kampaniyalarining aniqligini yaxshilaydi.</a:t>
            </a:r>
          </a:p>
        </p:txBody>
      </p:sp>
      <p:sp>
        <p:nvSpPr>
          <p:cNvPr id="7" name="Rectangle 6"/>
          <p:cNvSpPr/>
          <p:nvPr/>
        </p:nvSpPr>
        <p:spPr>
          <a:xfrm>
            <a:off x="731520" y="1920240"/>
            <a:ext cx="10728655" cy="54864"/>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A8A98"/>
                </a:solidFill>
                <a:latin typeface="Inter"/>
              </a:defRPr>
            </a:pPr>
            <a:r>
              <a:t>SlydAI  •  HOLO                             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31920" y="502920"/>
            <a:ext cx="4327855" cy="329184"/>
          </a:xfrm>
          <a:prstGeom prst="roundRect">
            <a:avLst/>
          </a:prstGeom>
          <a:solidFill>
            <a:srgbClr val="FFFFFF"/>
          </a:solidFill>
          <a:ln w="12700">
            <a:solidFill>
              <a:srgbClr val="C3B7F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C3B7FF"/>
                </a:solidFill>
                <a:latin typeface="Inter"/>
              </a:defRPr>
            </a:pPr>
            <a:r>
              <a:t>XULOSA VA STRATEGIK TAVSIYALAR</a:t>
            </a:r>
          </a:p>
        </p:txBody>
      </p:sp>
      <p:sp>
        <p:nvSpPr>
          <p:cNvPr id="5" name="TextBox 4"/>
          <p:cNvSpPr txBox="1"/>
          <p:nvPr/>
        </p:nvSpPr>
        <p:spPr>
          <a:xfrm>
            <a:off x="731520" y="868680"/>
            <a:ext cx="10728655" cy="1005840"/>
          </a:xfrm>
          <a:prstGeom prst="rect">
            <a:avLst/>
          </a:prstGeom>
          <a:noFill/>
        </p:spPr>
        <p:txBody>
          <a:bodyPr wrap="square" tIns="0" bIns="0" lIns="0" rIns="0">
            <a:spAutoFit/>
          </a:bodyPr>
          <a:lstStyle/>
          <a:p>
            <a:pPr algn="ctr">
              <a:defRPr sz="2800" b="1">
                <a:solidFill>
                  <a:srgbClr val="3A3A46"/>
                </a:solidFill>
                <a:latin typeface="Sora"/>
              </a:defRPr>
            </a:pPr>
            <a:r>
              <a:t>Xulosa va Strategik Harakat &lt;span style="background: linear-gradient(120deg, #FFB6E1, #C3B7FF, #9FE8FF, #B8FFD9); -webkit-background-clip: text; -webkit-text-fill-color: transparent;"&gt;Rejasi&lt;/span&gt;</a:t>
            </a:r>
          </a:p>
          <a:p>
            <a:pPr algn="ctr">
              <a:spcBef>
                <a:spcPts val="400"/>
              </a:spcBef>
              <a:defRPr sz="1400">
                <a:solidFill>
                  <a:srgbClr val="5C5C6A"/>
                </a:solidFill>
                <a:latin typeface="Inter"/>
              </a:defRPr>
            </a:pPr>
            <a:r>
              <a:t>Kelajak Muvaffaqiyati Uchun Aniqlangan Qadamlar</a:t>
            </a:r>
          </a:p>
        </p:txBody>
      </p:sp>
      <p:sp>
        <p:nvSpPr>
          <p:cNvPr id="6" name="Rounded Rectangle 5"/>
          <p:cNvSpPr/>
          <p:nvPr/>
        </p:nvSpPr>
        <p:spPr>
          <a:xfrm>
            <a:off x="731520" y="2011680"/>
            <a:ext cx="10728655" cy="4069080"/>
          </a:xfrm>
          <a:prstGeom prst="roundRect">
            <a:avLst/>
          </a:prstGeom>
          <a:solidFill>
            <a:srgbClr val="FFFFFF"/>
          </a:solidFill>
          <a:ln w="19050">
            <a:solidFill>
              <a:srgbClr val="ECECF2"/>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03200" rIns="203200"/>
          <a:lstStyle/>
          <a:p>
            <a:pPr algn="ctr">
              <a:spcAft>
                <a:spcPts val="1200"/>
              </a:spcAft>
              <a:defRPr sz="1100" b="1">
                <a:solidFill>
                  <a:srgbClr val="C3B7FF"/>
                </a:solidFill>
                <a:latin typeface="Inter"/>
              </a:defRPr>
            </a:pPr>
            <a:r>
              <a:t>01. ASOSIY XULOSA</a:t>
            </a:r>
          </a:p>
          <a:p>
            <a:pPr>
              <a:defRPr sz="1300">
                <a:solidFill>
                  <a:srgbClr val="5C5C6A"/>
                </a:solidFill>
                <a:latin typeface="Inter"/>
              </a:defRPr>
            </a:pPr>
            <a:r>
              <a:t>Zamonviy Marketingning Asosiy Xulosasi:** Bugungi kunda marketing faqat mahsulotni sotish emas, balki mijozlar bilan chuqur aloqa o'rnatish, ularning ehtiyojlarini qondirish va ularga qiymat berishdan iborat. Raqamli vositalar, ma'lumotlarga asoslangan qarorlar va mijoz markazidagi yondashuv muvaffaqiyatning kaliti bo'lib, brendning bozorlardagi uzoq muddatli barqarorligini ta'minlaydi.</a:t>
            </a:r>
          </a:p>
        </p:txBody>
      </p:sp>
      <p:sp>
        <p:nvSpPr>
          <p:cNvPr id="7" name="Rectangle 6"/>
          <p:cNvSpPr/>
          <p:nvPr/>
        </p:nvSpPr>
        <p:spPr>
          <a:xfrm>
            <a:off x="731520" y="2011680"/>
            <a:ext cx="10728655" cy="73152"/>
          </a:xfrm>
          <a:prstGeom prst="rect">
            <a:avLst/>
          </a:prstGeom>
          <a:solidFill>
            <a:srgbClr val="C3B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A8A98"/>
                </a:solidFill>
                <a:latin typeface="Inter"/>
              </a:defRPr>
            </a:pPr>
            <a:r>
              <a:t>SlydAI  •  HOLO                             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