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E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749039" y="868680"/>
            <a:ext cx="4693615" cy="475488"/>
          </a:xfrm>
          <a:prstGeom prst="roundRect">
            <a:avLst/>
          </a:prstGeom>
          <a:solidFill>
            <a:srgbClr val="13244D"/>
          </a:solidFill>
          <a:ln w="19050">
            <a:solidFill>
              <a:srgbClr val="2E6BFF"/>
            </a:solidFill>
          </a:ln>
        </p:spPr>
        <p:style>
          <a:lnRef idx="1">
            <a:schemeClr val="accent1"/>
          </a:lnRef>
          <a:fillRef idx="3">
            <a:schemeClr val="accent1"/>
          </a:fillRef>
          <a:effectRef idx="2">
            <a:schemeClr val="accent1"/>
          </a:effectRef>
          <a:fontRef idx="minor">
            <a:schemeClr val="lt1"/>
          </a:fontRef>
        </p:style>
        <p:txBody>
          <a:bodyPr rtlCol="0" anchor="ctr" wrap="square" tIns="63500" bIns="63500" lIns="127000" rIns="127000"/>
          <a:lstStyle/>
          <a:p>
            <a:pPr algn="ctr">
              <a:defRPr sz="1200" b="1">
                <a:solidFill>
                  <a:srgbClr val="2E6BFF"/>
                </a:solidFill>
                <a:latin typeface="Inter"/>
              </a:defRPr>
            </a:pPr>
            <a:r>
              <a:t>SLYDAI  •  MIDNIGHT-PITCH EDITION</a:t>
            </a:r>
          </a:p>
        </p:txBody>
      </p:sp>
      <p:sp>
        <p:nvSpPr>
          <p:cNvPr id="5" name="Rounded Rectangle 4"/>
          <p:cNvSpPr/>
          <p:nvPr/>
        </p:nvSpPr>
        <p:spPr>
          <a:xfrm>
            <a:off x="914400" y="1554480"/>
            <a:ext cx="10362895" cy="3977639"/>
          </a:xfrm>
          <a:prstGeom prst="roundRect">
            <a:avLst/>
          </a:prstGeom>
          <a:solidFill>
            <a:srgbClr val="13244D"/>
          </a:solidFill>
          <a:ln w="1905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wrap="square" tIns="381000" bIns="254000" lIns="482600" rIns="482600"/>
          <a:lstStyle/>
          <a:p>
            <a:pPr algn="l">
              <a:spcAft>
                <a:spcPts val="1600"/>
              </a:spcAft>
              <a:defRPr sz="4000" b="1">
                <a:solidFill>
                  <a:srgbClr val="FFFFFF"/>
                </a:solidFill>
                <a:latin typeface="Sora"/>
              </a:defRPr>
            </a:pPr>
            <a:r>
              <a:t>O'zbekistonda Turizmning **Kelajagi**</a:t>
            </a:r>
          </a:p>
          <a:p>
            <a:pPr algn="l">
              <a:spcAft>
                <a:spcPts val="2000"/>
              </a:spcAft>
              <a:defRPr sz="1900">
                <a:solidFill>
                  <a:srgbClr val="94A8CC"/>
                </a:solidFill>
                <a:latin typeface="Inter"/>
              </a:defRPr>
            </a:pPr>
            <a:r>
              <a:t>2024-2030 yillarda Barqaror Rivojlanish Strategiyasi va Imkoniyatlari</a:t>
            </a:r>
          </a:p>
        </p:txBody>
      </p:sp>
      <p:sp>
        <p:nvSpPr>
          <p:cNvPr id="6" name="Rectangle 5"/>
          <p:cNvSpPr/>
          <p:nvPr/>
        </p:nvSpPr>
        <p:spPr>
          <a:xfrm>
            <a:off x="914400" y="1554480"/>
            <a:ext cx="109728" cy="3977639"/>
          </a:xfrm>
          <a:prstGeom prst="rect">
            <a:avLst/>
          </a:prstGeom>
          <a:solidFill>
            <a:srgbClr val="2E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5687568"/>
            <a:ext cx="3246120" cy="658368"/>
          </a:xfrm>
          <a:prstGeom prst="roundRect">
            <a:avLst/>
          </a:prstGeom>
          <a:solidFill>
            <a:srgbClr val="13244D"/>
          </a:solidFill>
          <a:ln w="1270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950" b="1">
                <a:solidFill>
                  <a:srgbClr val="2E6BFF"/>
                </a:solidFill>
                <a:latin typeface="Inter"/>
              </a:defRPr>
            </a:pPr>
            <a:r>
              <a:t>TAQDIMOT TURI</a:t>
            </a:r>
          </a:p>
          <a:p>
            <a:pPr>
              <a:defRPr sz="1200">
                <a:solidFill>
                  <a:srgbClr val="94A8CC"/>
                </a:solidFill>
                <a:latin typeface="Inter"/>
              </a:defRPr>
            </a:pPr>
            <a:r>
              <a:t>Midnight-Pitch Professional Deck</a:t>
            </a:r>
          </a:p>
        </p:txBody>
      </p:sp>
      <p:sp>
        <p:nvSpPr>
          <p:cNvPr id="8" name="Rounded Rectangle 7"/>
          <p:cNvSpPr/>
          <p:nvPr/>
        </p:nvSpPr>
        <p:spPr>
          <a:xfrm>
            <a:off x="4471416" y="5687568"/>
            <a:ext cx="3246120" cy="658368"/>
          </a:xfrm>
          <a:prstGeom prst="roundRect">
            <a:avLst/>
          </a:prstGeom>
          <a:solidFill>
            <a:srgbClr val="13244D"/>
          </a:solidFill>
          <a:ln w="1270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950" b="1">
                <a:solidFill>
                  <a:srgbClr val="2E6BFF"/>
                </a:solidFill>
                <a:latin typeface="Inter"/>
              </a:defRPr>
            </a:pPr>
            <a:r>
              <a:t>SLAYDLAR SONI</a:t>
            </a:r>
          </a:p>
          <a:p>
            <a:pPr>
              <a:defRPr sz="1200">
                <a:solidFill>
                  <a:srgbClr val="94A8CC"/>
                </a:solidFill>
                <a:latin typeface="Inter"/>
              </a:defRPr>
            </a:pPr>
            <a:r>
              <a:t>5 ta to'liq slayd</a:t>
            </a:r>
          </a:p>
        </p:txBody>
      </p:sp>
      <p:sp>
        <p:nvSpPr>
          <p:cNvPr id="9" name="Rounded Rectangle 8"/>
          <p:cNvSpPr/>
          <p:nvPr/>
        </p:nvSpPr>
        <p:spPr>
          <a:xfrm>
            <a:off x="8028432" y="5687568"/>
            <a:ext cx="3246120" cy="658368"/>
          </a:xfrm>
          <a:prstGeom prst="roundRect">
            <a:avLst/>
          </a:prstGeom>
          <a:solidFill>
            <a:srgbClr val="13244D"/>
          </a:solidFill>
          <a:ln w="1270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wrap="square" tIns="50800" bIns="50800" lIns="127000" rIns="127000"/>
          <a:lstStyle/>
          <a:p>
            <a:pPr algn="ctr">
              <a:defRPr sz="950" b="1">
                <a:solidFill>
                  <a:srgbClr val="2E6BFF"/>
                </a:solidFill>
                <a:latin typeface="Inter"/>
              </a:defRPr>
            </a:pPr>
            <a:r>
              <a:t>TAHLIL DARAJASI</a:t>
            </a:r>
          </a:p>
          <a:p>
            <a:pPr>
              <a:defRPr sz="1200">
                <a:solidFill>
                  <a:srgbClr val="94A8CC"/>
                </a:solidFill>
                <a:latin typeface="Inter"/>
              </a:defRPr>
            </a:pPr>
            <a:r>
              <a:t>Ekspert &amp; Amaliy Yo'riqnoma</a:t>
            </a:r>
          </a:p>
        </p:txBody>
      </p:sp>
      <p:sp>
        <p:nvSpPr>
          <p:cNvPr id="10" name="TextBox 9"/>
          <p:cNvSpPr txBox="1"/>
          <p:nvPr/>
        </p:nvSpPr>
        <p:spPr>
          <a:xfrm>
            <a:off x="731520" y="6327648"/>
            <a:ext cx="10728655" cy="320040"/>
          </a:xfrm>
          <a:prstGeom prst="rect">
            <a:avLst/>
          </a:prstGeom>
          <a:noFill/>
        </p:spPr>
        <p:txBody>
          <a:bodyPr wrap="none" tIns="0" bIns="0" lIns="0" rIns="0">
            <a:spAutoFit/>
          </a:bodyPr>
          <a:lstStyle/>
          <a:p>
            <a:pPr>
              <a:defRPr sz="1100">
                <a:solidFill>
                  <a:srgbClr val="5F73A0"/>
                </a:solidFill>
                <a:latin typeface="Inter"/>
              </a:defRPr>
            </a:pPr>
            <a:r>
              <a:t>SlydAI  •  MIDNIGHT-PITCH                             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E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57200"/>
            <a:ext cx="2560320" cy="347472"/>
          </a:xfrm>
          <a:prstGeom prst="roundRect">
            <a:avLst/>
          </a:prstGeom>
          <a:solidFill>
            <a:srgbClr val="13244D"/>
          </a:solidFill>
          <a:ln w="12700">
            <a:solidFill>
              <a:srgbClr val="2E6BFF"/>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100" b="1">
                <a:solidFill>
                  <a:srgbClr val="2E6BFF"/>
                </a:solidFill>
                <a:latin typeface="Inter"/>
              </a:defRPr>
            </a:pPr>
            <a:r>
              <a:t>REJA VA MUNDARIJA</a:t>
            </a:r>
          </a:p>
        </p:txBody>
      </p:sp>
      <p:sp>
        <p:nvSpPr>
          <p:cNvPr id="5" name="TextBox 4"/>
          <p:cNvSpPr txBox="1"/>
          <p:nvPr/>
        </p:nvSpPr>
        <p:spPr>
          <a:xfrm>
            <a:off x="731520" y="841248"/>
            <a:ext cx="10728655" cy="868680"/>
          </a:xfrm>
          <a:prstGeom prst="rect">
            <a:avLst/>
          </a:prstGeom>
          <a:noFill/>
        </p:spPr>
        <p:txBody>
          <a:bodyPr wrap="square" tIns="0" bIns="0" lIns="0" rIns="0">
            <a:spAutoFit/>
          </a:bodyPr>
          <a:lstStyle/>
          <a:p>
            <a:pPr>
              <a:defRPr sz="3200" b="1">
                <a:solidFill>
                  <a:srgbClr val="FFFFFF"/>
                </a:solidFill>
                <a:latin typeface="Sora"/>
              </a:defRPr>
            </a:pPr>
            <a:r>
              <a:t>Taqdimot **Rejasi**</a:t>
            </a:r>
          </a:p>
        </p:txBody>
      </p:sp>
      <p:sp>
        <p:nvSpPr>
          <p:cNvPr id="6" name="Rounded Rectangle 5"/>
          <p:cNvSpPr/>
          <p:nvPr/>
        </p:nvSpPr>
        <p:spPr>
          <a:xfrm>
            <a:off x="731520" y="1783080"/>
            <a:ext cx="10728655" cy="4187952"/>
          </a:xfrm>
          <a:prstGeom prst="roundRect">
            <a:avLst/>
          </a:prstGeom>
          <a:solidFill>
            <a:srgbClr val="13244D"/>
          </a:solidFill>
          <a:ln w="1270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wrap="square" tIns="101600" bIns="101600" lIns="1206500" rIns="228600"/>
          <a:lstStyle/>
          <a:p>
            <a:pPr algn="ctr"/>
            <a:r>
              <a:rPr sz="1650" b="1">
                <a:solidFill>
                  <a:srgbClr val="FFFFFF"/>
                </a:solidFill>
                <a:latin typeface="Sora"/>
              </a:rPr>
              <a:t>Yo'nalish 01  —  </a:t>
            </a:r>
            <a:r>
              <a:rPr sz="1450">
                <a:solidFill>
                  <a:srgbClr val="94A8CC"/>
                </a:solidFill>
                <a:latin typeface="Inter"/>
              </a:rPr>
              <a:t>Hozirgi Holat va Imkoniyatlar:** O'zbekiston turizm bozorining joriy tahlili, erishilgan asosiy yutuqlar, mavjud to'siqlar va yangi imkoniyatlar sharhi.</a:t>
            </a:r>
          </a:p>
        </p:txBody>
      </p:sp>
      <p:sp>
        <p:nvSpPr>
          <p:cNvPr id="7" name="Rounded Rectangle 6"/>
          <p:cNvSpPr/>
          <p:nvPr/>
        </p:nvSpPr>
        <p:spPr>
          <a:xfrm>
            <a:off x="914400" y="1874519"/>
            <a:ext cx="777240" cy="4005072"/>
          </a:xfrm>
          <a:prstGeom prst="roundRect">
            <a:avLst/>
          </a:prstGeom>
          <a:solidFill>
            <a:srgbClr val="0A1838"/>
          </a:solidFill>
          <a:ln w="19050">
            <a:solidFill>
              <a:srgbClr val="2E6BFF"/>
            </a:solidFill>
          </a:ln>
        </p:spPr>
        <p:style>
          <a:lnRef idx="1">
            <a:schemeClr val="accent1"/>
          </a:lnRef>
          <a:fillRef idx="3">
            <a:schemeClr val="accent1"/>
          </a:fillRef>
          <a:effectRef idx="2">
            <a:schemeClr val="accent1"/>
          </a:effectRef>
          <a:fontRef idx="minor">
            <a:schemeClr val="lt1"/>
          </a:fontRef>
        </p:style>
        <p:txBody>
          <a:bodyPr rtlCol="0" anchor="ctr" tIns="25400" bIns="25400" lIns="25400" rIns="25400"/>
          <a:lstStyle/>
          <a:p>
            <a:pPr algn="ctr">
              <a:defRPr sz="1600" b="1">
                <a:solidFill>
                  <a:srgbClr val="2E6BFF"/>
                </a:solidFill>
                <a:latin typeface="Inter"/>
              </a:defRPr>
            </a:pPr>
            <a:r>
              <a:t>01</a:t>
            </a:r>
          </a:p>
        </p:txBody>
      </p:sp>
      <p:sp>
        <p:nvSpPr>
          <p:cNvPr id="8" name="TextBox 7"/>
          <p:cNvSpPr txBox="1"/>
          <p:nvPr/>
        </p:nvSpPr>
        <p:spPr>
          <a:xfrm>
            <a:off x="731520" y="6327648"/>
            <a:ext cx="10728655" cy="320040"/>
          </a:xfrm>
          <a:prstGeom prst="rect">
            <a:avLst/>
          </a:prstGeom>
          <a:noFill/>
        </p:spPr>
        <p:txBody>
          <a:bodyPr wrap="none" tIns="0" bIns="0" lIns="0" rIns="0">
            <a:spAutoFit/>
          </a:bodyPr>
          <a:lstStyle/>
          <a:p>
            <a:pPr>
              <a:defRPr sz="1100">
                <a:solidFill>
                  <a:srgbClr val="5F73A0"/>
                </a:solidFill>
                <a:latin typeface="Inter"/>
              </a:defRPr>
            </a:pPr>
            <a:r>
              <a:t>SlydAI  •  MIDNIGHT-PITCH                             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E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57200"/>
            <a:ext cx="2377440" cy="347472"/>
          </a:xfrm>
          <a:prstGeom prst="roundRect">
            <a:avLst/>
          </a:prstGeom>
          <a:solidFill>
            <a:srgbClr val="13244D"/>
          </a:solidFill>
          <a:ln w="1270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100" b="1">
                <a:solidFill>
                  <a:srgbClr val="2E6BFF"/>
                </a:solidFill>
                <a:latin typeface="Inter"/>
              </a:defRPr>
            </a:pPr>
            <a:r>
              <a:t>SLAYD 03 / 05</a:t>
            </a:r>
          </a:p>
        </p:txBody>
      </p:sp>
      <p:sp>
        <p:nvSpPr>
          <p:cNvPr id="5" name="TextBox 4"/>
          <p:cNvSpPr txBox="1"/>
          <p:nvPr/>
        </p:nvSpPr>
        <p:spPr>
          <a:xfrm>
            <a:off x="731520" y="841248"/>
            <a:ext cx="10728655" cy="1005840"/>
          </a:xfrm>
          <a:prstGeom prst="rect">
            <a:avLst/>
          </a:prstGeom>
          <a:noFill/>
        </p:spPr>
        <p:txBody>
          <a:bodyPr wrap="square" tIns="0" bIns="0" lIns="0" rIns="0">
            <a:spAutoFit/>
          </a:bodyPr>
          <a:lstStyle/>
          <a:p>
            <a:pPr>
              <a:defRPr sz="2800" b="1">
                <a:solidFill>
                  <a:srgbClr val="FFFFFF"/>
                </a:solidFill>
                <a:latin typeface="Sora"/>
              </a:defRPr>
            </a:pPr>
            <a:r>
              <a:t>Hozirgi Holat va Strategik **Maqsadlar**</a:t>
            </a:r>
          </a:p>
          <a:p>
            <a:pPr>
              <a:spcBef>
                <a:spcPts val="300"/>
              </a:spcBef>
              <a:defRPr sz="1550">
                <a:solidFill>
                  <a:srgbClr val="94A8CC"/>
                </a:solidFill>
                <a:latin typeface="Inter"/>
              </a:defRPr>
            </a:pPr>
            <a:r>
              <a:t>O'zbekiston Turizmida O'sish va Transformatsiya</a:t>
            </a:r>
          </a:p>
        </p:txBody>
      </p:sp>
      <p:sp>
        <p:nvSpPr>
          <p:cNvPr id="6" name="Rounded Rectangle 5"/>
          <p:cNvSpPr/>
          <p:nvPr/>
        </p:nvSpPr>
        <p:spPr>
          <a:xfrm>
            <a:off x="731520" y="1874519"/>
            <a:ext cx="5230368" cy="4251960"/>
          </a:xfrm>
          <a:prstGeom prst="roundRect">
            <a:avLst/>
          </a:prstGeom>
          <a:solidFill>
            <a:srgbClr val="13244D"/>
          </a:solidFill>
          <a:ln w="1905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wrap="square" tIns="228600" bIns="177800" lIns="254000" rIns="254000"/>
          <a:lstStyle/>
          <a:p>
            <a:pPr algn="ctr">
              <a:spcAft>
                <a:spcPts val="1200"/>
              </a:spcAft>
              <a:defRPr sz="1600" b="1">
                <a:solidFill>
                  <a:srgbClr val="2E6BFF"/>
                </a:solidFill>
                <a:latin typeface="Sora"/>
              </a:defRPr>
            </a:pPr>
            <a:r>
              <a:t>Asosiy Tushunchalar va Tahlil</a:t>
            </a:r>
          </a:p>
          <a:p>
            <a:pPr>
              <a:spcAft>
                <a:spcPts val="1200"/>
              </a:spcAft>
            </a:pPr>
            <a:r>
              <a:rPr sz="1400">
                <a:solidFill>
                  <a:srgbClr val="94A8CC"/>
                </a:solidFill>
                <a:latin typeface="Inter"/>
              </a:rPr>
              <a:t>• Joriy Yutuqlar va Potensial:** 2023 yilda O'zbekistonga tashrif buyurgan sayyohlar soni 6.9 milliondan oshdi, bu 2016 yilga nisbatan 4 barobar o'sishni ko'rsatadi. Turizm xizmatlari eksporti 2.1 milliard dollarga yetdi. Mintaqadagi noyob madaniy merosimiz global e'tiborni tortishda davom etmoqda, bu esa kelajakdagi o'sish uchun mustahkam poydevor yaratadi.</a:t>
            </a:r>
          </a:p>
        </p:txBody>
      </p:sp>
      <p:sp>
        <p:nvSpPr>
          <p:cNvPr id="7" name="Rectangle 6"/>
          <p:cNvSpPr/>
          <p:nvPr/>
        </p:nvSpPr>
        <p:spPr>
          <a:xfrm>
            <a:off x="731520" y="1874519"/>
            <a:ext cx="5230368" cy="54864"/>
          </a:xfrm>
          <a:prstGeom prst="rect">
            <a:avLst/>
          </a:prstGeom>
          <a:solidFill>
            <a:srgbClr val="2E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29807" y="1874519"/>
            <a:ext cx="5230368" cy="4251960"/>
          </a:xfrm>
          <a:prstGeom prst="roundRect">
            <a:avLst/>
          </a:prstGeom>
          <a:solidFill>
            <a:srgbClr val="13244D"/>
          </a:solidFill>
          <a:ln w="1905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wrap="square" tIns="228600" bIns="177800" lIns="254000" rIns="254000"/>
          <a:lstStyle/>
          <a:p>
            <a:pPr algn="ctr">
              <a:spcAft>
                <a:spcPts val="1200"/>
              </a:spcAft>
              <a:defRPr sz="1600" b="1">
                <a:solidFill>
                  <a:srgbClr val="2E6BFF"/>
                </a:solidFill>
                <a:latin typeface="Sora"/>
              </a:defRPr>
            </a:pPr>
            <a:r>
              <a:t>Amaliy Tatbiq va Strategik Natijalar</a:t>
            </a:r>
          </a:p>
          <a:p>
            <a:pPr>
              <a:spcAft>
                <a:spcPts val="1200"/>
              </a:spcAft>
            </a:pPr>
            <a:r>
              <a:rPr sz="1400">
                <a:solidFill>
                  <a:srgbClr val="94A8CC"/>
                </a:solidFill>
                <a:latin typeface="Inter"/>
              </a:rPr>
              <a:t>• Joriy Yutuqlar va Potensial:** 2023 yilda O'zbekistonga tashrif buyurgan sayyohlar soni 6.9 milliondan oshdi, bu 2016 yilga nisbatan 4 barobar o'sishni ko'rsatadi. Turizm xizmatlari eksporti 2.1 milliard dollarga yetdi. Mintaqadagi noyob madaniy merosimiz global e'tiborni tortishda davom etmoqda, bu esa kelajakdagi o'sish uchun mustahkam poydevor yaratadi.</a:t>
            </a:r>
          </a:p>
        </p:txBody>
      </p:sp>
      <p:sp>
        <p:nvSpPr>
          <p:cNvPr id="9" name="Rectangle 8"/>
          <p:cNvSpPr/>
          <p:nvPr/>
        </p:nvSpPr>
        <p:spPr>
          <a:xfrm>
            <a:off x="6229807" y="1874519"/>
            <a:ext cx="5230368" cy="54864"/>
          </a:xfrm>
          <a:prstGeom prst="rect">
            <a:avLst/>
          </a:prstGeom>
          <a:solidFill>
            <a:srgbClr val="2E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27648"/>
            <a:ext cx="10728655" cy="320040"/>
          </a:xfrm>
          <a:prstGeom prst="rect">
            <a:avLst/>
          </a:prstGeom>
          <a:noFill/>
        </p:spPr>
        <p:txBody>
          <a:bodyPr wrap="none" tIns="0" bIns="0" lIns="0" rIns="0">
            <a:spAutoFit/>
          </a:bodyPr>
          <a:lstStyle/>
          <a:p>
            <a:pPr>
              <a:defRPr sz="1100">
                <a:solidFill>
                  <a:srgbClr val="5F73A0"/>
                </a:solidFill>
                <a:latin typeface="Inter"/>
              </a:defRPr>
            </a:pPr>
            <a:r>
              <a:t>SlydAI  •  MIDNIGHT-PITCH                             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E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57200"/>
            <a:ext cx="2377440" cy="347472"/>
          </a:xfrm>
          <a:prstGeom prst="roundRect">
            <a:avLst/>
          </a:prstGeom>
          <a:solidFill>
            <a:srgbClr val="13244D"/>
          </a:solidFill>
          <a:ln w="1270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100" b="1">
                <a:solidFill>
                  <a:srgbClr val="2E6BFF"/>
                </a:solidFill>
                <a:latin typeface="Inter"/>
              </a:defRPr>
            </a:pPr>
            <a:r>
              <a:t>SLAYD 04 / 05</a:t>
            </a:r>
          </a:p>
        </p:txBody>
      </p:sp>
      <p:sp>
        <p:nvSpPr>
          <p:cNvPr id="5" name="TextBox 4"/>
          <p:cNvSpPr txBox="1"/>
          <p:nvPr/>
        </p:nvSpPr>
        <p:spPr>
          <a:xfrm>
            <a:off x="731520" y="841248"/>
            <a:ext cx="10728655" cy="1005840"/>
          </a:xfrm>
          <a:prstGeom prst="rect">
            <a:avLst/>
          </a:prstGeom>
          <a:noFill/>
        </p:spPr>
        <p:txBody>
          <a:bodyPr wrap="square" tIns="0" bIns="0" lIns="0" rIns="0">
            <a:spAutoFit/>
          </a:bodyPr>
          <a:lstStyle/>
          <a:p>
            <a:pPr>
              <a:defRPr sz="2800" b="1">
                <a:solidFill>
                  <a:srgbClr val="FFFFFF"/>
                </a:solidFill>
                <a:latin typeface="Sora"/>
              </a:defRPr>
            </a:pPr>
            <a:r>
              <a:t>Asosiy Rivojlanish **Yo'nalishlari**</a:t>
            </a:r>
          </a:p>
          <a:p>
            <a:pPr>
              <a:spcBef>
                <a:spcPts val="300"/>
              </a:spcBef>
              <a:defRPr sz="1550">
                <a:solidFill>
                  <a:srgbClr val="94A8CC"/>
                </a:solidFill>
                <a:latin typeface="Inter"/>
              </a:defRPr>
            </a:pPr>
            <a:r>
              <a:t>Diversifikatsiya va Raqobatbardoshlikni Oshirish</a:t>
            </a:r>
          </a:p>
        </p:txBody>
      </p:sp>
      <p:sp>
        <p:nvSpPr>
          <p:cNvPr id="6" name="Rounded Rectangle 5"/>
          <p:cNvSpPr/>
          <p:nvPr/>
        </p:nvSpPr>
        <p:spPr>
          <a:xfrm>
            <a:off x="731520" y="1874519"/>
            <a:ext cx="10728655" cy="4251960"/>
          </a:xfrm>
          <a:prstGeom prst="roundRect">
            <a:avLst/>
          </a:prstGeom>
          <a:solidFill>
            <a:srgbClr val="13244D"/>
          </a:solidFill>
          <a:ln w="1905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wrap="square" tIns="228600" bIns="177800" lIns="228600" rIns="228600"/>
          <a:lstStyle/>
          <a:p>
            <a:pPr algn="ctr">
              <a:spcAft>
                <a:spcPts val="1000"/>
              </a:spcAft>
              <a:defRPr sz="1150" b="1">
                <a:solidFill>
                  <a:srgbClr val="2E6BFF"/>
                </a:solidFill>
                <a:latin typeface="Inter"/>
              </a:defRPr>
            </a:pPr>
            <a:r>
              <a:t>USTUN 01</a:t>
            </a:r>
          </a:p>
          <a:p>
            <a:pPr>
              <a:defRPr sz="1350">
                <a:solidFill>
                  <a:srgbClr val="94A8CC"/>
                </a:solidFill>
                <a:latin typeface="Inter"/>
              </a:defRPr>
            </a:pPr>
            <a:r>
              <a:t>Madaniy-Tarixiy Turizm:** Samarqand, Buxoro, Xiva va Shahrisabz kabi Jahon merosi shaharlaridagi infratuzilmani yaxshilash, muzeylarni modernizatsiya qilish va interaktiv sayyohlik dasturlarini ishlab chiqish. Tarixiy ob'ektlarning raqamli sayohatlarini yaratish orqali tashrif buyuruvchilar tajribasini boyitish.</a:t>
            </a:r>
          </a:p>
        </p:txBody>
      </p:sp>
      <p:sp>
        <p:nvSpPr>
          <p:cNvPr id="7" name="Rectangle 6"/>
          <p:cNvSpPr/>
          <p:nvPr/>
        </p:nvSpPr>
        <p:spPr>
          <a:xfrm>
            <a:off x="731520" y="1874519"/>
            <a:ext cx="10728655" cy="54864"/>
          </a:xfrm>
          <a:prstGeom prst="rect">
            <a:avLst/>
          </a:prstGeom>
          <a:solidFill>
            <a:srgbClr val="2E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10728655" cy="320040"/>
          </a:xfrm>
          <a:prstGeom prst="rect">
            <a:avLst/>
          </a:prstGeom>
          <a:noFill/>
        </p:spPr>
        <p:txBody>
          <a:bodyPr wrap="none" tIns="0" bIns="0" lIns="0" rIns="0">
            <a:spAutoFit/>
          </a:bodyPr>
          <a:lstStyle/>
          <a:p>
            <a:pPr>
              <a:defRPr sz="1100">
                <a:solidFill>
                  <a:srgbClr val="5F73A0"/>
                </a:solidFill>
                <a:latin typeface="Inter"/>
              </a:defRPr>
            </a:pPr>
            <a:r>
              <a:t>SlydAI  •  MIDNIGHT-PITCH                             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E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749039" y="457200"/>
            <a:ext cx="4693615" cy="347472"/>
          </a:xfrm>
          <a:prstGeom prst="roundRect">
            <a:avLst/>
          </a:prstGeom>
          <a:solidFill>
            <a:srgbClr val="13244D"/>
          </a:solidFill>
          <a:ln w="12700">
            <a:solidFill>
              <a:srgbClr val="2E6BFF"/>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100" b="1">
                <a:solidFill>
                  <a:srgbClr val="2E6BFF"/>
                </a:solidFill>
                <a:latin typeface="Inter"/>
              </a:defRPr>
            </a:pPr>
            <a:r>
              <a:t>XULOSA VA STRATEGIK TAVSIYALAR</a:t>
            </a:r>
          </a:p>
        </p:txBody>
      </p:sp>
      <p:sp>
        <p:nvSpPr>
          <p:cNvPr id="5" name="TextBox 4"/>
          <p:cNvSpPr txBox="1"/>
          <p:nvPr/>
        </p:nvSpPr>
        <p:spPr>
          <a:xfrm>
            <a:off x="731520" y="841248"/>
            <a:ext cx="10728655" cy="1051560"/>
          </a:xfrm>
          <a:prstGeom prst="rect">
            <a:avLst/>
          </a:prstGeom>
          <a:noFill/>
        </p:spPr>
        <p:txBody>
          <a:bodyPr wrap="square" tIns="0" bIns="0" lIns="0" rIns="0">
            <a:spAutoFit/>
          </a:bodyPr>
          <a:lstStyle/>
          <a:p>
            <a:pPr algn="ctr">
              <a:defRPr sz="3000" b="1">
                <a:solidFill>
                  <a:srgbClr val="FFFFFF"/>
                </a:solidFill>
                <a:latin typeface="Sora"/>
              </a:defRPr>
            </a:pPr>
            <a:r>
              <a:t>Xulosa va Harakat **Rejasi**</a:t>
            </a:r>
          </a:p>
          <a:p>
            <a:pPr algn="ctr">
              <a:spcBef>
                <a:spcPts val="400"/>
              </a:spcBef>
              <a:defRPr sz="1550">
                <a:solidFill>
                  <a:srgbClr val="94A8CC"/>
                </a:solidFill>
                <a:latin typeface="Inter"/>
              </a:defRPr>
            </a:pPr>
            <a:r>
              <a:t>Barqaror O'sish va Kelajakdagi Qadamlar</a:t>
            </a:r>
          </a:p>
        </p:txBody>
      </p:sp>
      <p:sp>
        <p:nvSpPr>
          <p:cNvPr id="6" name="Rounded Rectangle 5"/>
          <p:cNvSpPr/>
          <p:nvPr/>
        </p:nvSpPr>
        <p:spPr>
          <a:xfrm>
            <a:off x="731520" y="1965960"/>
            <a:ext cx="10728655" cy="4160520"/>
          </a:xfrm>
          <a:prstGeom prst="roundRect">
            <a:avLst/>
          </a:prstGeom>
          <a:solidFill>
            <a:srgbClr val="13244D"/>
          </a:solidFill>
          <a:ln w="19050">
            <a:solidFill>
              <a:srgbClr val="23365F"/>
            </a:solidFill>
          </a:ln>
        </p:spPr>
        <p:style>
          <a:lnRef idx="1">
            <a:schemeClr val="accent1"/>
          </a:lnRef>
          <a:fillRef idx="3">
            <a:schemeClr val="accent1"/>
          </a:fillRef>
          <a:effectRef idx="2">
            <a:schemeClr val="accent1"/>
          </a:effectRef>
          <a:fontRef idx="minor">
            <a:schemeClr val="lt1"/>
          </a:fontRef>
        </p:style>
        <p:txBody>
          <a:bodyPr rtlCol="0" anchor="ctr" wrap="square" tIns="228600" bIns="177800" lIns="228600" rIns="228600"/>
          <a:lstStyle/>
          <a:p>
            <a:pPr algn="ctr">
              <a:spcAft>
                <a:spcPts val="1200"/>
              </a:spcAft>
              <a:defRPr sz="1150" b="1">
                <a:solidFill>
                  <a:srgbClr val="2E6BFF"/>
                </a:solidFill>
                <a:latin typeface="Inter"/>
              </a:defRPr>
            </a:pPr>
            <a:r>
              <a:t>01. ASOSIY XULOSA</a:t>
            </a:r>
          </a:p>
          <a:p>
            <a:pPr>
              <a:defRPr sz="1400">
                <a:solidFill>
                  <a:srgbClr val="94A8CC"/>
                </a:solidFill>
                <a:latin typeface="Inter"/>
              </a:defRPr>
            </a:pPr>
            <a:r>
              <a:t>Strategik Ustuvorlik:** O'zbekiston 2024-2030 yillarda turizm sohasini iqtisodiyotning lokomotivi sifatida rivojlantirishga qaratilgan aniq strategiyaga ega. Bu maqsadga erishish uchun davlat, xususiy sektor va xalqaro tashkilotlarning yaqin hamkorligi muhim ahamiyat kasb etadi va barqaror o'sishni ta'minlaydi.</a:t>
            </a:r>
          </a:p>
        </p:txBody>
      </p:sp>
      <p:sp>
        <p:nvSpPr>
          <p:cNvPr id="7" name="Rectangle 6"/>
          <p:cNvSpPr/>
          <p:nvPr/>
        </p:nvSpPr>
        <p:spPr>
          <a:xfrm>
            <a:off x="731520" y="1965960"/>
            <a:ext cx="10728655" cy="73152"/>
          </a:xfrm>
          <a:prstGeom prst="rect">
            <a:avLst/>
          </a:prstGeom>
          <a:solidFill>
            <a:srgbClr val="2E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10728655" cy="320040"/>
          </a:xfrm>
          <a:prstGeom prst="rect">
            <a:avLst/>
          </a:prstGeom>
          <a:noFill/>
        </p:spPr>
        <p:txBody>
          <a:bodyPr wrap="none" tIns="0" bIns="0" lIns="0" rIns="0">
            <a:spAutoFit/>
          </a:bodyPr>
          <a:lstStyle/>
          <a:p>
            <a:pPr>
              <a:defRPr sz="1100">
                <a:solidFill>
                  <a:srgbClr val="5F73A0"/>
                </a:solidFill>
                <a:latin typeface="Inter"/>
              </a:defRPr>
            </a:pPr>
            <a:r>
              <a:t>SlydAI  •  MIDNIGHT-PITCH                             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