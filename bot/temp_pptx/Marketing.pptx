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62895" cy="443484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0" bIns="381000" lIns="571500" rIns="571500"/>
          <a:lstStyle/>
          <a:p>
            <a:pPr algn="l">
              <a:spcAft>
                <a:spcPts val="2000"/>
              </a:spcAft>
              <a:defRPr sz="4400" b="1">
                <a:solidFill>
                  <a:srgbClr val="F4F3FF"/>
                </a:solidFill>
                <a:latin typeface="Sora"/>
              </a:defRPr>
            </a:pPr>
            <a:r>
              <a:t>Marketing</a:t>
            </a:r>
          </a:p>
          <a:p>
            <a:pPr algn="l">
              <a:spcAft>
                <a:spcPts val="2400"/>
              </a:spcAft>
              <a:defRPr sz="2000">
                <a:solidFill>
                  <a:srgbClr val="C3C0DE"/>
                </a:solidFill>
                <a:latin typeface="Spline Sans Mono"/>
              </a:defRPr>
            </a:pPr>
            <a:r>
              <a:t>Brending, Analitika va Mijozlar Tajribasini Yangi Bosqichga Olib Chiqish</a:t>
            </a:r>
          </a:p>
          <a:p>
            <a:pPr>
              <a:defRPr sz="1200">
                <a:solidFill>
                  <a:srgbClr val="7C5CFF"/>
                </a:solidFill>
                <a:latin typeface="Spline Sans Mono"/>
              </a:defRPr>
            </a:pPr>
            <a:r>
              <a:t>━━━━━━━━━━━━━━━━━━━━━━━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28016" cy="443484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F4F3FF"/>
                </a:solidFill>
                <a:latin typeface="Sora"/>
              </a:defRPr>
            </a:pPr>
            <a:r>
              <a:t>Taqdimot Rejasi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19888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990600" rIns="203200"/>
          <a:lstStyle/>
          <a:p>
            <a:pPr algn="ctr">
              <a:spcAft>
                <a:spcPts val="400"/>
              </a:spcAft>
              <a:defRPr sz="1600" b="1">
                <a:solidFill>
                  <a:srgbClr val="F4F3FF"/>
                </a:solidFill>
                <a:latin typeface="Sora"/>
              </a:defRPr>
            </a:pPr>
            <a:r>
              <a:t>Raqamli Transformatsiya</a:t>
            </a:r>
          </a:p>
          <a:p>
            <a:pPr>
              <a:defRPr sz="1300">
                <a:solidFill>
                  <a:srgbClr val="C3C0DE"/>
                </a:solidFill>
                <a:latin typeface="Spline Sans Mono"/>
              </a:defRPr>
            </a:pPr>
            <a:r>
              <a:t>An'anaviy marketingdan raqamli ekotizimlarga o'tish bosqichlari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039111"/>
            <a:ext cx="685800" cy="384048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350" b="1">
                <a:solidFill>
                  <a:srgbClr val="7C5CFF"/>
                </a:solidFill>
                <a:latin typeface="Spline Sans Mono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9807" y="1874519"/>
            <a:ext cx="5230368" cy="19888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990600" rIns="203200"/>
          <a:lstStyle/>
          <a:p>
            <a:pPr algn="ctr">
              <a:spcAft>
                <a:spcPts val="400"/>
              </a:spcAft>
              <a:defRPr sz="1600" b="1">
                <a:solidFill>
                  <a:srgbClr val="F4F3FF"/>
                </a:solidFill>
                <a:latin typeface="Sora"/>
              </a:defRPr>
            </a:pPr>
            <a:r>
              <a:t>Data-Driven Strategiya</a:t>
            </a:r>
          </a:p>
          <a:p>
            <a:pPr>
              <a:defRPr sz="1300">
                <a:solidFill>
                  <a:srgbClr val="C3C0DE"/>
                </a:solidFill>
                <a:latin typeface="Spline Sans Mono"/>
              </a:defRPr>
            </a:pPr>
            <a:r>
              <a:t>Ma'lumotlar tahlili va iste'molchilar segmentatsiyasi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9807" y="1874519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4399" y="2039111"/>
            <a:ext cx="685800" cy="384048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350" b="1">
                <a:solidFill>
                  <a:srgbClr val="7C5CFF"/>
                </a:solidFill>
                <a:latin typeface="Spline Sans Mono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7931"/>
            <a:ext cx="5230368" cy="19888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990600" rIns="203200"/>
          <a:lstStyle/>
          <a:p>
            <a:pPr algn="ctr">
              <a:spcAft>
                <a:spcPts val="400"/>
              </a:spcAft>
              <a:defRPr sz="1600" b="1">
                <a:solidFill>
                  <a:srgbClr val="F4F3FF"/>
                </a:solidFill>
                <a:latin typeface="Sora"/>
              </a:defRPr>
            </a:pPr>
            <a:r>
              <a:t>Omnichannel Tajriba</a:t>
            </a:r>
          </a:p>
          <a:p>
            <a:pPr>
              <a:defRPr sz="1300">
                <a:solidFill>
                  <a:srgbClr val="C3C0DE"/>
                </a:solidFill>
                <a:latin typeface="Spline Sans Mono"/>
              </a:defRPr>
            </a:pPr>
            <a:r>
              <a:t>Barcha aloqa kanallarini yagona tizimga birlashtirish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7931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4192523"/>
            <a:ext cx="685800" cy="384048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350" b="1">
                <a:solidFill>
                  <a:srgbClr val="7C5CFF"/>
                </a:solidFill>
                <a:latin typeface="Spline Sans Mono"/>
              </a:defRPr>
            </a:pPr>
            <a: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9807" y="4027931"/>
            <a:ext cx="5230368" cy="198882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77800" bIns="127000" lIns="990600" rIns="203200"/>
          <a:lstStyle/>
          <a:p>
            <a:pPr algn="ctr">
              <a:spcAft>
                <a:spcPts val="400"/>
              </a:spcAft>
              <a:defRPr sz="1600" b="1">
                <a:solidFill>
                  <a:srgbClr val="F4F3FF"/>
                </a:solidFill>
                <a:latin typeface="Sora"/>
              </a:defRPr>
            </a:pPr>
            <a:r>
              <a:t>Natijadorlik &amp; ROI</a:t>
            </a:r>
          </a:p>
          <a:p>
            <a:pPr>
              <a:defRPr sz="1300">
                <a:solidFill>
                  <a:srgbClr val="C3C0DE"/>
                </a:solidFill>
                <a:latin typeface="Spline Sans Mono"/>
              </a:defRPr>
            </a:pPr>
            <a:r>
              <a:t>Marketing investitsiyalarining samaradorligini o'lchash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807" y="4027931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4399" y="4192523"/>
            <a:ext cx="685800" cy="384048"/>
          </a:xfrm>
          <a:prstGeom prst="roundRect">
            <a:avLst/>
          </a:prstGeom>
          <a:solidFill>
            <a:srgbClr val="0B0B16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350" b="1">
                <a:solidFill>
                  <a:srgbClr val="7C5CFF"/>
                </a:solidFill>
                <a:latin typeface="Spline Sans Mono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377440" cy="34747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SLAYD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4F3FF"/>
                </a:solidFill>
                <a:latin typeface="Sora"/>
              </a:defRPr>
            </a:pPr>
            <a:r>
              <a:t>Omnichannel Strategiyasi va Mijozlar Sodiqligi</a:t>
            </a:r>
          </a:p>
          <a:p>
            <a:pPr>
              <a:spcBef>
                <a:spcPts val="300"/>
              </a:spcBef>
              <a:defRPr sz="1550">
                <a:solidFill>
                  <a:srgbClr val="C3C0DE"/>
                </a:solidFill>
                <a:latin typeface="Spline Sans Mono"/>
              </a:defRPr>
            </a:pPr>
            <a:r>
              <a:t>Turli platformalarda uzluksiz aloqa o'rnatish tamoyillari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2039112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bIns="127000" lIns="254000" rIns="228600"/>
          <a:lstStyle/>
          <a:p>
            <a:pPr algn="ctr">
              <a:spcAft>
                <a:spcPts val="600"/>
              </a:spcAft>
              <a:defRPr sz="1550" b="1">
                <a:solidFill>
                  <a:srgbClr val="7C5CFF"/>
                </a:solidFill>
                <a:latin typeface="Sora"/>
              </a:defRPr>
            </a:pPr>
            <a:r>
              <a:t>✦  Yagona Ekotizim</a:t>
            </a:r>
          </a:p>
          <a:p>
            <a:pPr>
              <a:defRPr sz="1350">
                <a:solidFill>
                  <a:srgbClr val="C3C0DE"/>
                </a:solidFill>
                <a:latin typeface="Spline Sans Mono"/>
              </a:defRPr>
            </a:pPr>
            <a:r>
              <a:t>Ijtimoiy tarmoqlar, veb-sayt, mobil ilova va to'g'ridan-to'g'ri savdo nuqtalarini yagona ma'lumotlar bazasi orqali integratsiya qilish.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203911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874519"/>
            <a:ext cx="5230368" cy="2039112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bIns="127000" lIns="254000" rIns="228600"/>
          <a:lstStyle/>
          <a:p>
            <a:pPr algn="ctr">
              <a:spcAft>
                <a:spcPts val="600"/>
              </a:spcAft>
              <a:defRPr sz="1550" b="1">
                <a:solidFill>
                  <a:srgbClr val="7C5CFF"/>
                </a:solidFill>
                <a:latin typeface="Sora"/>
              </a:defRPr>
            </a:pPr>
            <a:r>
              <a:t>✦  Shaxsiylashtirilgan Yondashuv</a:t>
            </a:r>
          </a:p>
          <a:p>
            <a:pPr>
              <a:defRPr sz="1350">
                <a:solidFill>
                  <a:srgbClr val="C3C0DE"/>
                </a:solidFill>
                <a:latin typeface="Spline Sans Mono"/>
              </a:defRPr>
            </a:pPr>
            <a:r>
              <a:t>Har bir mijozning qiziqishi va xarid tarixiga asoslangan maxsus takliflar va dinamik kontent yetkazib berish tizimi.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874519"/>
            <a:ext cx="73152" cy="203911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078223"/>
            <a:ext cx="5230368" cy="2039112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bIns="127000" lIns="254000" rIns="228600"/>
          <a:lstStyle/>
          <a:p>
            <a:pPr algn="ctr">
              <a:spcAft>
                <a:spcPts val="600"/>
              </a:spcAft>
              <a:defRPr sz="1550" b="1">
                <a:solidFill>
                  <a:srgbClr val="7C5CFF"/>
                </a:solidFill>
                <a:latin typeface="Sora"/>
              </a:defRPr>
            </a:pPr>
            <a:r>
              <a:t>✦  Tezkor Qayta Aloqa</a:t>
            </a:r>
          </a:p>
          <a:p>
            <a:pPr>
              <a:defRPr sz="1350">
                <a:solidFill>
                  <a:srgbClr val="C3C0DE"/>
                </a:solidFill>
                <a:latin typeface="Spline Sans Mono"/>
              </a:defRPr>
            </a:pPr>
            <a:r>
              <a:t>Avtomatlashtirilgan xizmat ko'rsatish va mijozlarning fikr-mulohazalarini real vaqtda tahlil qilish mexanizmi.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78223"/>
            <a:ext cx="73152" cy="203911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457200"/>
            <a:ext cx="4693615" cy="347472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7C5CFF"/>
                </a:solidFill>
                <a:latin typeface="Spline Sans Mono"/>
              </a:defRPr>
            </a:pPr>
            <a:r>
              <a:t>XULOSA VA STRATEGIK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3000" b="1">
                <a:solidFill>
                  <a:srgbClr val="F4F3FF"/>
                </a:solidFill>
                <a:latin typeface="Sora"/>
              </a:defRPr>
            </a:pPr>
            <a:r>
              <a:t>Yakuniy Xulosa va Harakatlar Rejasi</a:t>
            </a:r>
          </a:p>
          <a:p>
            <a:pPr algn="ctr">
              <a:spcBef>
                <a:spcPts val="400"/>
              </a:spcBef>
              <a:defRPr sz="1550">
                <a:solidFill>
                  <a:srgbClr val="C3C0DE"/>
                </a:solidFill>
                <a:latin typeface="Spline Sans Mono"/>
              </a:defRPr>
            </a:pPr>
            <a:r>
              <a:t>Marketingda muvaffaqiyatga erishish uchun 3 ta asosiy tavsiya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bIns="177800" lIns="279400" rIns="279400"/>
          <a:lstStyle/>
          <a:p>
            <a:pPr algn="ctr">
              <a:spcAft>
                <a:spcPts val="1400"/>
              </a:spcAft>
              <a:defRPr sz="1700" b="1">
                <a:solidFill>
                  <a:srgbClr val="7C5CFF"/>
                </a:solidFill>
                <a:latin typeface="Sora"/>
              </a:defRPr>
            </a:pPr>
            <a:r>
              <a:t>01. Strategik Xulosa va Tahlil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450" b="1">
                <a:solidFill>
                  <a:srgbClr val="F4F3FF"/>
                </a:solidFill>
                <a:latin typeface="Spline Sans Mono"/>
              </a:rPr>
              <a:t>Analitika Tizimini O'rnatish: </a:t>
            </a:r>
            <a:r>
              <a:rPr sz="1400">
                <a:solidFill>
                  <a:srgbClr val="C3C0DE"/>
                </a:solidFill>
                <a:latin typeface="Spline Sans Mono"/>
              </a:rPr>
              <a:t>To'liq hisobot va metrikalarni kuzatib boruvchi zamonaviy analitika vositalarini joriy qilish.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450" b="1">
                <a:solidFill>
                  <a:srgbClr val="F4F3FF"/>
                </a:solidFill>
                <a:latin typeface="Spline Sans Mono"/>
              </a:rPr>
              <a:t>Kontent Strategiyasini Yangilash: </a:t>
            </a:r>
            <a:r>
              <a:rPr sz="1400">
                <a:solidFill>
                  <a:srgbClr val="C3C0DE"/>
                </a:solidFill>
                <a:latin typeface="Spline Sans Mono"/>
              </a:rPr>
              <a:t>Mijozlar uchun yuqori qiymatga ega bo'lgan ta'limiy va qiziqarli kontent yaratish.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874519"/>
            <a:ext cx="5230368" cy="4251960"/>
          </a:xfrm>
          <a:prstGeom prst="roundRect">
            <a:avLst/>
          </a:prstGeom>
          <a:solidFill>
            <a:srgbClr val="15152A"/>
          </a:solidFill>
          <a:ln w="1905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bIns="177800" lIns="279400" rIns="279400"/>
          <a:lstStyle/>
          <a:p>
            <a:pPr algn="ctr">
              <a:spcAft>
                <a:spcPts val="1400"/>
              </a:spcAft>
              <a:defRPr sz="1700" b="1">
                <a:solidFill>
                  <a:srgbClr val="7C5CFF"/>
                </a:solidFill>
                <a:latin typeface="Sora"/>
              </a:defRPr>
            </a:pPr>
            <a:r>
              <a:t>02. Amaliy Harakatlar Rejasi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4F3FF"/>
                </a:solidFill>
                <a:latin typeface="Spline Sans Mono"/>
              </a:rPr>
              <a:t>• </a:t>
            </a:r>
            <a:r>
              <a:rPr sz="1450" b="1">
                <a:solidFill>
                  <a:srgbClr val="F4F3FF"/>
                </a:solidFill>
                <a:latin typeface="Spline Sans Mono"/>
              </a:rPr>
              <a:t>Muntazam A/B Sinovlar: </a:t>
            </a:r>
            <a:r>
              <a:rPr sz="1400">
                <a:solidFill>
                  <a:srgbClr val="C3C0DE"/>
                </a:solidFill>
                <a:latin typeface="Spline Sans Mono"/>
              </a:rPr>
              <a:t>Reklama kampaniyalari va konversiya elementlarini doimiy ravishda sinovdan o'tkazib borish.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874519"/>
            <a:ext cx="5230368" cy="54864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807CA6"/>
                </a:solidFill>
                <a:latin typeface="Spline Sans Mono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