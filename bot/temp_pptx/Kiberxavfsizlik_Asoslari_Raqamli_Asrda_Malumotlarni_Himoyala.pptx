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188720"/>
            <a:ext cx="10362895" cy="4434840"/>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508000" bIns="381000" lIns="571500" rIns="571500"/>
          <a:lstStyle/>
          <a:p>
            <a:pPr algn="l">
              <a:spcAft>
                <a:spcPts val="2000"/>
              </a:spcAft>
              <a:defRPr sz="3600" b="1">
                <a:solidFill>
                  <a:srgbClr val="14080C"/>
                </a:solidFill>
                <a:latin typeface="Archivo Black"/>
              </a:defRPr>
            </a:pPr>
            <a:r>
              <a:t>Kiberxavfsizlik Asoslari: Raqamli Asrda Ma'lumotlarni Himoyalash</a:t>
            </a:r>
          </a:p>
          <a:p>
            <a:pPr algn="l">
              <a:spcAft>
                <a:spcPts val="2400"/>
              </a:spcAft>
              <a:defRPr sz="2000">
                <a:solidFill>
                  <a:srgbClr val="4A2A33"/>
                </a:solidFill>
                <a:latin typeface="Archivo"/>
              </a:defRPr>
            </a:pPr>
            <a:r>
              <a:t>Raqamli Dunyoning Murakkab Chiziqlarida Sizning Aktivlaringizni Himoyalashning Strategik Asoslari</a:t>
            </a:r>
          </a:p>
          <a:p>
            <a:pPr>
              <a:defRPr sz="1200">
                <a:solidFill>
                  <a:srgbClr val="FF2E63"/>
                </a:solidFill>
                <a:latin typeface="Archivo"/>
              </a:defRPr>
            </a:pPr>
            <a:r>
              <a:t>━━━━━━━━━━━━━━━━━━━━━━━</a:t>
            </a:r>
          </a:p>
        </p:txBody>
      </p:sp>
      <p:sp>
        <p:nvSpPr>
          <p:cNvPr id="5" name="Rectangle 4"/>
          <p:cNvSpPr/>
          <p:nvPr/>
        </p:nvSpPr>
        <p:spPr>
          <a:xfrm>
            <a:off x="914400" y="1188720"/>
            <a:ext cx="128016" cy="4434840"/>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10728655" cy="320040"/>
          </a:xfrm>
          <a:prstGeom prst="rect">
            <a:avLst/>
          </a:prstGeom>
          <a:noFill/>
        </p:spPr>
        <p:txBody>
          <a:bodyPr wrap="none" tIns="0" bIns="0" lIns="0" rIns="0">
            <a:spAutoFit/>
          </a:bodyPr>
          <a:lstStyle/>
          <a:p>
            <a:pPr algn="r">
              <a:defRPr sz="1100">
                <a:solidFill>
                  <a:srgbClr val="9B7B84"/>
                </a:solidFill>
                <a:latin typeface="Archivo"/>
              </a:defRPr>
            </a:pPr>
            <a: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560320" cy="347472"/>
          </a:xfrm>
          <a:prstGeom prst="roundRect">
            <a:avLst/>
          </a:prstGeom>
          <a:solidFill>
            <a:srgbClr val="FFF0F4"/>
          </a:solidFill>
          <a:ln w="12700">
            <a:solidFill>
              <a:srgbClr val="FF2E63"/>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FF2E63"/>
                </a:solidFill>
                <a:latin typeface="Archivo"/>
              </a:defRPr>
            </a:pPr>
            <a:r>
              <a:t>REJA VA MUNDARIJA</a:t>
            </a:r>
          </a:p>
        </p:txBody>
      </p:sp>
      <p:sp>
        <p:nvSpPr>
          <p:cNvPr id="5" name="TextBox 4"/>
          <p:cNvSpPr txBox="1"/>
          <p:nvPr/>
        </p:nvSpPr>
        <p:spPr>
          <a:xfrm>
            <a:off x="731520" y="841248"/>
            <a:ext cx="10728655" cy="868680"/>
          </a:xfrm>
          <a:prstGeom prst="rect">
            <a:avLst/>
          </a:prstGeom>
          <a:noFill/>
        </p:spPr>
        <p:txBody>
          <a:bodyPr wrap="square" tIns="0" bIns="0" lIns="0" rIns="0">
            <a:spAutoFit/>
          </a:bodyPr>
          <a:lstStyle/>
          <a:p>
            <a:pPr>
              <a:defRPr sz="3200" b="1">
                <a:solidFill>
                  <a:srgbClr val="14080C"/>
                </a:solidFill>
                <a:latin typeface="Archivo Black"/>
              </a:defRPr>
            </a:pPr>
            <a:r>
              <a:t>Reja: Kiberxavfsizlikka Kompleks Yondashuv</a:t>
            </a:r>
          </a:p>
        </p:txBody>
      </p:sp>
      <p:sp>
        <p:nvSpPr>
          <p:cNvPr id="6" name="Rounded Rectangle 5"/>
          <p:cNvSpPr/>
          <p:nvPr/>
        </p:nvSpPr>
        <p:spPr>
          <a:xfrm>
            <a:off x="731520" y="1874519"/>
            <a:ext cx="5230368" cy="1988820"/>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177800" bIns="127000" lIns="990600" rIns="203200"/>
          <a:lstStyle/>
          <a:p>
            <a:pPr algn="ctr">
              <a:spcAft>
                <a:spcPts val="400"/>
              </a:spcAft>
              <a:defRPr sz="1600" b="1">
                <a:solidFill>
                  <a:srgbClr val="14080C"/>
                </a:solidFill>
                <a:latin typeface="Archivo Black"/>
              </a:defRPr>
            </a:pPr>
            <a:r>
              <a:t>Yo'nalish 01</a:t>
            </a:r>
          </a:p>
          <a:p>
            <a:pPr>
              <a:defRPr sz="1300">
                <a:solidFill>
                  <a:srgbClr val="4A2A33"/>
                </a:solidFill>
                <a:latin typeface="Archivo"/>
              </a:defRPr>
            </a:pPr>
            <a:r>
              <a:t>Kiberxavfsizlikning Tushunchalari:** Raqamli tahdidlar, zaifliklar va ularning oqibatlari kabi asosiy terminologiyani chuqur tahlil qilamiz. Ushbu bo'lim kiberxavfsizlik landshaftini tushunish uchun fundamental zamin yaratadi.</a:t>
            </a:r>
          </a:p>
        </p:txBody>
      </p:sp>
      <p:sp>
        <p:nvSpPr>
          <p:cNvPr id="7" name="Rectangle 6"/>
          <p:cNvSpPr/>
          <p:nvPr/>
        </p:nvSpPr>
        <p:spPr>
          <a:xfrm>
            <a:off x="731520" y="1874519"/>
            <a:ext cx="5230368" cy="54864"/>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2039111"/>
            <a:ext cx="685800" cy="384048"/>
          </a:xfrm>
          <a:prstGeom prst="roundRect">
            <a:avLst/>
          </a:prstGeom>
          <a:solidFill>
            <a:srgbClr val="FFFFFF"/>
          </a:solidFill>
          <a:ln w="19050">
            <a:solidFill>
              <a:srgbClr val="FF2E63"/>
            </a:solidFill>
          </a:ln>
        </p:spPr>
        <p:style>
          <a:lnRef idx="1">
            <a:schemeClr val="accent1"/>
          </a:lnRef>
          <a:fillRef idx="3">
            <a:schemeClr val="accent1"/>
          </a:fillRef>
          <a:effectRef idx="2">
            <a:schemeClr val="accent1"/>
          </a:effectRef>
          <a:fontRef idx="minor">
            <a:schemeClr val="lt1"/>
          </a:fontRef>
        </p:style>
        <p:txBody>
          <a:bodyPr rtlCol="0" anchor="ctr" tIns="25400" bIns="25400" lIns="25400" rIns="25400"/>
          <a:lstStyle/>
          <a:p>
            <a:pPr algn="ctr">
              <a:defRPr sz="1350" b="1">
                <a:solidFill>
                  <a:srgbClr val="FF2E63"/>
                </a:solidFill>
                <a:latin typeface="Archivo"/>
              </a:defRPr>
            </a:pPr>
            <a:r>
              <a:t>01</a:t>
            </a:r>
          </a:p>
        </p:txBody>
      </p:sp>
      <p:sp>
        <p:nvSpPr>
          <p:cNvPr id="9" name="TextBox 8"/>
          <p:cNvSpPr txBox="1"/>
          <p:nvPr/>
        </p:nvSpPr>
        <p:spPr>
          <a:xfrm>
            <a:off x="731520" y="6327648"/>
            <a:ext cx="10728655" cy="320040"/>
          </a:xfrm>
          <a:prstGeom prst="rect">
            <a:avLst/>
          </a:prstGeom>
          <a:noFill/>
        </p:spPr>
        <p:txBody>
          <a:bodyPr wrap="none" tIns="0" bIns="0" lIns="0" rIns="0">
            <a:spAutoFit/>
          </a:bodyPr>
          <a:lstStyle/>
          <a:p>
            <a:pPr algn="r">
              <a:defRPr sz="1100">
                <a:solidFill>
                  <a:srgbClr val="9B7B84"/>
                </a:solidFill>
                <a:latin typeface="Archivo"/>
              </a:defRPr>
            </a:pPr>
            <a: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377440" cy="347472"/>
          </a:xfrm>
          <a:prstGeom prst="roundRect">
            <a:avLst/>
          </a:prstGeom>
          <a:solidFill>
            <a:srgbClr val="FFF0F4"/>
          </a:solidFill>
          <a:ln w="1270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FF2E63"/>
                </a:solidFill>
                <a:latin typeface="Archivo"/>
              </a:defRPr>
            </a:pPr>
            <a:r>
              <a:t>SLAYD 03 / 05</a:t>
            </a:r>
          </a:p>
        </p:txBody>
      </p:sp>
      <p:sp>
        <p:nvSpPr>
          <p:cNvPr id="5" name="TextBox 4"/>
          <p:cNvSpPr txBox="1"/>
          <p:nvPr/>
        </p:nvSpPr>
        <p:spPr>
          <a:xfrm>
            <a:off x="731520" y="841248"/>
            <a:ext cx="10728655" cy="1005840"/>
          </a:xfrm>
          <a:prstGeom prst="rect">
            <a:avLst/>
          </a:prstGeom>
          <a:noFill/>
        </p:spPr>
        <p:txBody>
          <a:bodyPr wrap="square" tIns="0" bIns="0" lIns="0" rIns="0">
            <a:spAutoFit/>
          </a:bodyPr>
          <a:lstStyle/>
          <a:p>
            <a:pPr>
              <a:defRPr sz="2800" b="1">
                <a:solidFill>
                  <a:srgbClr val="14080C"/>
                </a:solidFill>
                <a:latin typeface="Archivo Black"/>
              </a:defRPr>
            </a:pPr>
            <a:r>
              <a:t>Kiberxavfsizlikning Fundamental Tushunchalari</a:t>
            </a:r>
          </a:p>
          <a:p>
            <a:pPr>
              <a:spcBef>
                <a:spcPts val="300"/>
              </a:spcBef>
              <a:defRPr sz="1550">
                <a:solidFill>
                  <a:srgbClr val="4A2A33"/>
                </a:solidFill>
                <a:latin typeface="Archivo"/>
              </a:defRPr>
            </a:pPr>
            <a:r>
              <a:t>Raqamli Aktivlarni Himoyalashning Tayanch Nuqtalari</a:t>
            </a:r>
          </a:p>
        </p:txBody>
      </p:sp>
      <p:sp>
        <p:nvSpPr>
          <p:cNvPr id="6" name="Rounded Rectangle 5"/>
          <p:cNvSpPr/>
          <p:nvPr/>
        </p:nvSpPr>
        <p:spPr>
          <a:xfrm>
            <a:off x="731520" y="1874519"/>
            <a:ext cx="5230368" cy="2039112"/>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152400" bIns="127000" lIns="254000" rIns="228600"/>
          <a:lstStyle/>
          <a:p>
            <a:pPr algn="ctr">
              <a:spcAft>
                <a:spcPts val="600"/>
              </a:spcAft>
              <a:defRPr sz="1550" b="1">
                <a:solidFill>
                  <a:srgbClr val="FF2E63"/>
                </a:solidFill>
                <a:latin typeface="Archivo Black"/>
              </a:defRPr>
            </a:pPr>
            <a:r>
              <a:t>✦  Pillar 01</a:t>
            </a:r>
          </a:p>
          <a:p>
            <a:pPr>
              <a:defRPr sz="1350">
                <a:solidFill>
                  <a:srgbClr val="4A2A33"/>
                </a:solidFill>
                <a:latin typeface="Archivo"/>
              </a:defRPr>
            </a:pPr>
            <a:r>
              <a:t>Kiber Tahdidlar:** Bu atama ma'lumotlarga kirish, ularni buzish, o'zgartirish yoki yo'q qilishga qaratilgan har qanday zararli urinishni anglatadi. Misollar orasida viruslar, fishing hujumlari, xizmatni rad etish (DDoS) hujumlari va ma'lumotlar o'g'irlanishi kiradi, ular moliyaviy yo'qotishlar va obro'ga putur yetkazishga olib kelishi mumkin.</a:t>
            </a:r>
          </a:p>
        </p:txBody>
      </p:sp>
      <p:sp>
        <p:nvSpPr>
          <p:cNvPr id="7" name="Rectangle 6"/>
          <p:cNvSpPr/>
          <p:nvPr/>
        </p:nvSpPr>
        <p:spPr>
          <a:xfrm>
            <a:off x="731520" y="1874519"/>
            <a:ext cx="73152" cy="2039112"/>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10728655" cy="320040"/>
          </a:xfrm>
          <a:prstGeom prst="rect">
            <a:avLst/>
          </a:prstGeom>
          <a:noFill/>
        </p:spPr>
        <p:txBody>
          <a:bodyPr wrap="none" tIns="0" bIns="0" lIns="0" rIns="0">
            <a:spAutoFit/>
          </a:bodyPr>
          <a:lstStyle/>
          <a:p>
            <a:pPr algn="r">
              <a:defRPr sz="1100">
                <a:solidFill>
                  <a:srgbClr val="9B7B84"/>
                </a:solidFill>
                <a:latin typeface="Archivo"/>
              </a:defRPr>
            </a:pPr>
            <a: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377440" cy="347472"/>
          </a:xfrm>
          <a:prstGeom prst="roundRect">
            <a:avLst/>
          </a:prstGeom>
          <a:solidFill>
            <a:srgbClr val="FFF0F4"/>
          </a:solidFill>
          <a:ln w="1270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FF2E63"/>
                </a:solidFill>
                <a:latin typeface="Archivo"/>
              </a:defRPr>
            </a:pPr>
            <a:r>
              <a:t>SLAYD 04 / 05</a:t>
            </a:r>
          </a:p>
        </p:txBody>
      </p:sp>
      <p:sp>
        <p:nvSpPr>
          <p:cNvPr id="5" name="TextBox 4"/>
          <p:cNvSpPr txBox="1"/>
          <p:nvPr/>
        </p:nvSpPr>
        <p:spPr>
          <a:xfrm>
            <a:off x="731520" y="841248"/>
            <a:ext cx="10728655" cy="1005840"/>
          </a:xfrm>
          <a:prstGeom prst="rect">
            <a:avLst/>
          </a:prstGeom>
          <a:noFill/>
        </p:spPr>
        <p:txBody>
          <a:bodyPr wrap="square" tIns="0" bIns="0" lIns="0" rIns="0">
            <a:spAutoFit/>
          </a:bodyPr>
          <a:lstStyle/>
          <a:p>
            <a:pPr>
              <a:defRPr sz="2800" b="1">
                <a:solidFill>
                  <a:srgbClr val="14080C"/>
                </a:solidFill>
                <a:latin typeface="Archivo Black"/>
              </a:defRPr>
            </a:pPr>
            <a:r>
              <a:t>Keng Tarqalgan Kiber Tahdidlar va Ularga Qarshi Kurash</a:t>
            </a:r>
          </a:p>
          <a:p>
            <a:pPr>
              <a:spcBef>
                <a:spcPts val="300"/>
              </a:spcBef>
              <a:defRPr sz="1550">
                <a:solidFill>
                  <a:srgbClr val="4A2A33"/>
                </a:solidFill>
                <a:latin typeface="Archivo"/>
              </a:defRPr>
            </a:pPr>
            <a:r>
              <a:t>Zamonaviy Xavfsizlik Choralarini Qo'llash Orqali Himoyani Mustahkamlash</a:t>
            </a:r>
          </a:p>
        </p:txBody>
      </p:sp>
      <p:sp>
        <p:nvSpPr>
          <p:cNvPr id="6" name="Rounded Rectangle 5"/>
          <p:cNvSpPr/>
          <p:nvPr/>
        </p:nvSpPr>
        <p:spPr>
          <a:xfrm>
            <a:off x="731520" y="1874519"/>
            <a:ext cx="5230368" cy="4251960"/>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54000" rIns="254000"/>
          <a:lstStyle/>
          <a:p>
            <a:pPr algn="ctr">
              <a:spcAft>
                <a:spcPts val="1200"/>
              </a:spcAft>
              <a:defRPr sz="1600" b="1">
                <a:solidFill>
                  <a:srgbClr val="FF2E63"/>
                </a:solidFill>
                <a:latin typeface="Archivo Black"/>
              </a:defRPr>
            </a:pPr>
            <a:r>
              <a:t>Asosiy Tushunchalar va Tahlil</a:t>
            </a:r>
          </a:p>
          <a:p>
            <a:pPr>
              <a:spcAft>
                <a:spcPts val="1200"/>
              </a:spcAft>
            </a:pPr>
            <a:r>
              <a:rPr sz="1400">
                <a:solidFill>
                  <a:srgbClr val="4A2A33"/>
                </a:solidFill>
                <a:latin typeface="Archivo"/>
              </a:rPr>
              <a:t>• Feshing Hujumlari:** Bu hujumchilar o'zlarini ishonchli tashkilot yoki shaxs sifatida ko'rsatib, foydalanuvchilardan maxfiy ma'lumotlarni (parollar, bank hisob raqamlari) olishga urinadigan firibgarlik turidir. Feshing elektron pochta, SMS yoki ijtimoiy tarmoqlar orqali amalga oshiriladi; unga qarshi kurashish uchun xabarlar manbasini tekshirish va shubhali havolalarni bosmaslik muhimdir.</a:t>
            </a:r>
          </a:p>
        </p:txBody>
      </p:sp>
      <p:sp>
        <p:nvSpPr>
          <p:cNvPr id="7" name="Rectangle 6"/>
          <p:cNvSpPr/>
          <p:nvPr/>
        </p:nvSpPr>
        <p:spPr>
          <a:xfrm>
            <a:off x="731520" y="1874519"/>
            <a:ext cx="5230368" cy="54864"/>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29807" y="1874519"/>
            <a:ext cx="5230368" cy="4251960"/>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228600" bIns="177800" lIns="254000" rIns="254000"/>
          <a:lstStyle/>
          <a:p>
            <a:pPr algn="ctr">
              <a:spcAft>
                <a:spcPts val="1200"/>
              </a:spcAft>
              <a:defRPr sz="1600" b="1">
                <a:solidFill>
                  <a:srgbClr val="FF2E63"/>
                </a:solidFill>
                <a:latin typeface="Archivo Black"/>
              </a:defRPr>
            </a:pPr>
            <a:r>
              <a:t>Amaliy Tatbiq va Strategik Natijalar</a:t>
            </a:r>
          </a:p>
          <a:p>
            <a:pPr>
              <a:spcAft>
                <a:spcPts val="1200"/>
              </a:spcAft>
            </a:pPr>
            <a:r>
              <a:rPr sz="1400">
                <a:solidFill>
                  <a:srgbClr val="4A2A33"/>
                </a:solidFill>
                <a:latin typeface="Archivo"/>
              </a:rPr>
              <a:t>• Feshing Hujumlari:** Bu hujumchilar o'zlarini ishonchli tashkilot yoki shaxs sifatida ko'rsatib, foydalanuvchilardan maxfiy ma'lumotlarni (parollar, bank hisob raqamlari) olishga urinadigan firibgarlik turidir. Feshing elektron pochta, SMS yoki ijtimoiy tarmoqlar orqali amalga oshiriladi; unga qarshi kurashish uchun xabarlar manbasini tekshirish va shubhali havolalarni bosmaslik muhimdir.</a:t>
            </a:r>
          </a:p>
        </p:txBody>
      </p:sp>
      <p:sp>
        <p:nvSpPr>
          <p:cNvPr id="9" name="Rectangle 8"/>
          <p:cNvSpPr/>
          <p:nvPr/>
        </p:nvSpPr>
        <p:spPr>
          <a:xfrm>
            <a:off x="6229807" y="1874519"/>
            <a:ext cx="5230368" cy="54864"/>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lgn="r">
              <a:defRPr sz="1100">
                <a:solidFill>
                  <a:srgbClr val="9B7B84"/>
                </a:solidFill>
                <a:latin typeface="Archivo"/>
              </a:defRPr>
            </a:pPr>
            <a: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749039" y="457200"/>
            <a:ext cx="4693615" cy="347472"/>
          </a:xfrm>
          <a:prstGeom prst="roundRect">
            <a:avLst/>
          </a:prstGeom>
          <a:solidFill>
            <a:srgbClr val="FFF0F4"/>
          </a:solidFill>
          <a:ln w="12700">
            <a:solidFill>
              <a:srgbClr val="FF2E63"/>
            </a:solidFill>
          </a:ln>
        </p:spPr>
        <p:style>
          <a:lnRef idx="1">
            <a:schemeClr val="accent1"/>
          </a:lnRef>
          <a:fillRef idx="3">
            <a:schemeClr val="accent1"/>
          </a:fillRef>
          <a:effectRef idx="2">
            <a:schemeClr val="accent1"/>
          </a:effectRef>
          <a:fontRef idx="minor">
            <a:schemeClr val="lt1"/>
          </a:fontRef>
        </p:style>
        <p:txBody>
          <a:bodyPr rtlCol="0" anchor="ctr" tIns="38100" bIns="38100" lIns="101600" rIns="101600"/>
          <a:lstStyle/>
          <a:p>
            <a:pPr algn="ctr">
              <a:defRPr sz="1100" b="1">
                <a:solidFill>
                  <a:srgbClr val="FF2E63"/>
                </a:solidFill>
                <a:latin typeface="Archivo"/>
              </a:defRPr>
            </a:pPr>
            <a:r>
              <a:t>XULOSA VA STRATEGIK TAVSIYALAR</a:t>
            </a:r>
          </a:p>
        </p:txBody>
      </p:sp>
      <p:sp>
        <p:nvSpPr>
          <p:cNvPr id="5" name="TextBox 4"/>
          <p:cNvSpPr txBox="1"/>
          <p:nvPr/>
        </p:nvSpPr>
        <p:spPr>
          <a:xfrm>
            <a:off x="731520" y="841248"/>
            <a:ext cx="10728655" cy="1051560"/>
          </a:xfrm>
          <a:prstGeom prst="rect">
            <a:avLst/>
          </a:prstGeom>
          <a:noFill/>
        </p:spPr>
        <p:txBody>
          <a:bodyPr wrap="square" tIns="0" bIns="0" lIns="0" rIns="0">
            <a:spAutoFit/>
          </a:bodyPr>
          <a:lstStyle/>
          <a:p>
            <a:pPr algn="ctr">
              <a:defRPr sz="3000" b="1">
                <a:solidFill>
                  <a:srgbClr val="14080C"/>
                </a:solidFill>
                <a:latin typeface="Archivo Black"/>
              </a:defRPr>
            </a:pPr>
            <a:r>
              <a:t>Xulosa va Harakat Rejasi</a:t>
            </a:r>
          </a:p>
          <a:p>
            <a:pPr algn="ctr">
              <a:spcBef>
                <a:spcPts val="400"/>
              </a:spcBef>
              <a:defRPr sz="1550">
                <a:solidFill>
                  <a:srgbClr val="4A2A33"/>
                </a:solidFill>
                <a:latin typeface="Archivo"/>
              </a:defRPr>
            </a:pPr>
            <a:r>
              <a:t>Kiberxavfsizlik Madaniyatini Shakllantirish Orqali Raqamli Kelajakni Himoyalash</a:t>
            </a:r>
          </a:p>
        </p:txBody>
      </p:sp>
      <p:sp>
        <p:nvSpPr>
          <p:cNvPr id="6" name="Rounded Rectangle 5"/>
          <p:cNvSpPr/>
          <p:nvPr/>
        </p:nvSpPr>
        <p:spPr>
          <a:xfrm>
            <a:off x="731520" y="1874519"/>
            <a:ext cx="5230368" cy="4251960"/>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254000" bIns="177800" lIns="279400" rIns="279400"/>
          <a:lstStyle/>
          <a:p>
            <a:pPr algn="ctr">
              <a:spcAft>
                <a:spcPts val="1400"/>
              </a:spcAft>
              <a:defRPr sz="1700" b="1">
                <a:solidFill>
                  <a:srgbClr val="FF2E63"/>
                </a:solidFill>
                <a:latin typeface="Archivo Black"/>
              </a:defRPr>
            </a:pPr>
            <a:r>
              <a:t>01. Strategik Xulosa va Tahlil</a:t>
            </a:r>
          </a:p>
          <a:p>
            <a:pPr>
              <a:spcAft>
                <a:spcPts val="1200"/>
              </a:spcAft>
            </a:pPr>
            <a:r>
              <a:rPr sz="1400">
                <a:solidFill>
                  <a:srgbClr val="4A2A33"/>
                </a:solidFill>
                <a:latin typeface="Archivo"/>
              </a:rPr>
              <a:t>• Doimiy Ta'lim va Xabardorlik:** Kiber tahdidlar doimiy ravishda rivojlanib bormoqda, shuning uchun shaxsiy va tashkiliy darajada kiberxavfsizlik bo'yicha doimiy ta'lim va xabardorlikni oshirish juda muhimdir. Yangi tahdidlar va himoya usullari haqida muntazam ma'lumotlarga ega bo'lish, har bir foydalanuvchining mas'uliyatidir.</a:t>
            </a:r>
          </a:p>
        </p:txBody>
      </p:sp>
      <p:sp>
        <p:nvSpPr>
          <p:cNvPr id="7" name="Rectangle 6"/>
          <p:cNvSpPr/>
          <p:nvPr/>
        </p:nvSpPr>
        <p:spPr>
          <a:xfrm>
            <a:off x="731520" y="1874519"/>
            <a:ext cx="5230368" cy="54864"/>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29807" y="1874519"/>
            <a:ext cx="5230368" cy="4251960"/>
          </a:xfrm>
          <a:prstGeom prst="roundRect">
            <a:avLst/>
          </a:prstGeom>
          <a:solidFill>
            <a:srgbClr val="FFF0F4"/>
          </a:solidFill>
          <a:ln w="19050">
            <a:solidFill>
              <a:srgbClr val="FFD2DE"/>
            </a:solidFill>
          </a:ln>
        </p:spPr>
        <p:style>
          <a:lnRef idx="1">
            <a:schemeClr val="accent1"/>
          </a:lnRef>
          <a:fillRef idx="3">
            <a:schemeClr val="accent1"/>
          </a:fillRef>
          <a:effectRef idx="2">
            <a:schemeClr val="accent1"/>
          </a:effectRef>
          <a:fontRef idx="minor">
            <a:schemeClr val="lt1"/>
          </a:fontRef>
        </p:style>
        <p:txBody>
          <a:bodyPr rtlCol="0" anchor="ctr" wrap="square" tIns="254000" bIns="177800" lIns="279400" rIns="279400"/>
          <a:lstStyle/>
          <a:p>
            <a:pPr algn="ctr">
              <a:spcAft>
                <a:spcPts val="1400"/>
              </a:spcAft>
              <a:defRPr sz="1700" b="1">
                <a:solidFill>
                  <a:srgbClr val="FF2E63"/>
                </a:solidFill>
                <a:latin typeface="Archivo Black"/>
              </a:defRPr>
            </a:pPr>
            <a:r>
              <a:t>02. Amaliy Harakatlar Rejasi</a:t>
            </a:r>
          </a:p>
          <a:p>
            <a:pPr>
              <a:spcAft>
                <a:spcPts val="1200"/>
              </a:spcAft>
            </a:pPr>
            <a:r>
              <a:rPr sz="1400" b="1">
                <a:solidFill>
                  <a:srgbClr val="14080C"/>
                </a:solidFill>
                <a:latin typeface="Archivo"/>
              </a:rPr>
              <a:t>• </a:t>
            </a:r>
            <a:r>
              <a:rPr sz="1450" b="1">
                <a:solidFill>
                  <a:srgbClr val="14080C"/>
                </a:solidFill>
                <a:latin typeface="Archivo"/>
              </a:rPr>
              <a:t>Amaliy Tavsiyalar: </a:t>
            </a:r>
            <a:r>
              <a:rPr sz="1400">
                <a:solidFill>
                  <a:srgbClr val="4A2A33"/>
                </a:solidFill>
                <a:latin typeface="Archivo"/>
              </a:rPr>
              <a:t>Tizimni muvaffaqiyatli joriy etish va samaradorlikni oshirish bo'yicha muhim qadamlar.</a:t>
            </a:r>
          </a:p>
        </p:txBody>
      </p:sp>
      <p:sp>
        <p:nvSpPr>
          <p:cNvPr id="9" name="Rectangle 8"/>
          <p:cNvSpPr/>
          <p:nvPr/>
        </p:nvSpPr>
        <p:spPr>
          <a:xfrm>
            <a:off x="6229807" y="1874519"/>
            <a:ext cx="5230368" cy="54864"/>
          </a:xfrm>
          <a:prstGeom prst="rect">
            <a:avLst/>
          </a:prstGeom>
          <a:solidFill>
            <a:srgbClr val="FF2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327648"/>
            <a:ext cx="10728655" cy="320040"/>
          </a:xfrm>
          <a:prstGeom prst="rect">
            <a:avLst/>
          </a:prstGeom>
          <a:noFill/>
        </p:spPr>
        <p:txBody>
          <a:bodyPr wrap="none" tIns="0" bIns="0" lIns="0" rIns="0">
            <a:spAutoFit/>
          </a:bodyPr>
          <a:lstStyle/>
          <a:p>
            <a:pPr algn="r">
              <a:defRPr sz="1100">
                <a:solidFill>
                  <a:srgbClr val="9B7B84"/>
                </a:solidFill>
                <a:latin typeface="Archivo"/>
              </a:defRPr>
            </a:pPr>
            <a: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