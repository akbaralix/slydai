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E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023360" y="1188720"/>
            <a:ext cx="4144975" cy="457200"/>
          </a:xfrm>
          <a:prstGeom prst="roundRect">
            <a:avLst/>
          </a:prstGeom>
          <a:solidFill>
            <a:srgbClr val="13244D"/>
          </a:solidFill>
          <a:ln w="12700">
            <a:solidFill>
              <a:srgbClr val="2336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2E6BFF"/>
                </a:solidFill>
                <a:latin typeface="Inter"/>
              </a:defRPr>
            </a:pPr>
            <a:r>
              <a:t>SLYDAI  •  MIDNIGHT-PITCH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1920240"/>
            <a:ext cx="9997135" cy="3474720"/>
          </a:xfrm>
          <a:prstGeom prst="roundRect">
            <a:avLst/>
          </a:prstGeom>
          <a:solidFill>
            <a:srgbClr val="13244D"/>
          </a:solidFill>
          <a:ln w="12700">
            <a:solidFill>
              <a:srgbClr val="2336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4000" b="1">
                <a:solidFill>
                  <a:srgbClr val="FFFFFF"/>
                </a:solidFill>
                <a:latin typeface="Sora"/>
              </a:defRPr>
            </a:pPr>
            <a:r>
              <a:t>Marketing Tadqiqotlarida [gradient: Tanlanma] Shakllantirish</a:t>
            </a:r>
          </a:p>
          <a:p>
            <a:pPr algn="ctr">
              <a:spcBef>
                <a:spcPts val="1600"/>
              </a:spcBef>
              <a:defRPr sz="1800">
                <a:solidFill>
                  <a:srgbClr val="94A8CC"/>
                </a:solidFill>
                <a:latin typeface="Inter"/>
              </a:defRPr>
            </a:pPr>
            <a:r>
              <a:t>Ma'lumotlar aniqligi va resurslarni optimallashtirish strategiyasi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180990" y="5669280"/>
            <a:ext cx="1828800" cy="73152"/>
          </a:xfrm>
          <a:prstGeom prst="roundRect">
            <a:avLst/>
          </a:prstGeom>
          <a:solidFill>
            <a:srgbClr val="2E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F73A0"/>
                </a:solidFill>
                <a:latin typeface="Inter"/>
              </a:defRPr>
            </a:pPr>
            <a:r>
              <a:t>SlydAI • MIDNIGHT-PITCH                             1 / 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E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548640"/>
            <a:ext cx="2377440" cy="347472"/>
          </a:xfrm>
          <a:prstGeom prst="roundRect">
            <a:avLst/>
          </a:prstGeom>
          <a:solidFill>
            <a:srgbClr val="13244D"/>
          </a:solidFill>
          <a:ln w="12700">
            <a:solidFill>
              <a:srgbClr val="2336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2E6BFF"/>
                </a:solidFill>
                <a:latin typeface="Inter"/>
              </a:defRPr>
            </a:pPr>
            <a:r>
              <a:t>REJA VA TARKIB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0584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Sora"/>
              </a:defRPr>
            </a:pPr>
            <a:r>
              <a:t>Taqdimot [gradient: Rejasi] va Asosiy Bosqichlar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10728655" cy="731520"/>
          </a:xfrm>
          <a:prstGeom prst="roundRect">
            <a:avLst/>
          </a:prstGeom>
          <a:solidFill>
            <a:srgbClr val="13244D"/>
          </a:solidFill>
          <a:ln w="12700">
            <a:solidFill>
              <a:srgbClr val="2336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94A8CC"/>
                </a:solidFill>
                <a:latin typeface="Inter"/>
              </a:defRPr>
            </a:pPr>
            <a:r>
              <a:t>01   |   Tanlanma tushunchasi va uning marketing tahlilidagi roli, ya'ni butun bozorni o'rganish o'rniga uning vakillik guruhini tahlil qilish orqali vaqt va xarajatlarni tejash strategiyasi.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F73A0"/>
                </a:solidFill>
                <a:latin typeface="Inter"/>
              </a:defRPr>
            </a:pPr>
            <a:r>
              <a:t>SlydAI • MIDNIGHT-PITCH                             2 / 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E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548640"/>
            <a:ext cx="2194560" cy="347472"/>
          </a:xfrm>
          <a:prstGeom prst="roundRect">
            <a:avLst/>
          </a:prstGeom>
          <a:solidFill>
            <a:srgbClr val="13244D"/>
          </a:solidFill>
          <a:ln w="12700">
            <a:solidFill>
              <a:srgbClr val="2336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2E6BFF"/>
                </a:solidFill>
                <a:latin typeface="Inter"/>
              </a:defRPr>
            </a:pPr>
            <a:r>
              <a:t>SLAYD 03 / 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6012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Sora"/>
              </a:defRPr>
            </a:pPr>
            <a:r>
              <a:t>Ehtimoliy Tanlashning [gradient: Strategik] Afzalliklari</a:t>
            </a:r>
          </a:p>
          <a:p>
            <a:pPr>
              <a:spcBef>
                <a:spcPts val="400"/>
              </a:spcBef>
              <a:defRPr sz="1500">
                <a:solidFill>
                  <a:srgbClr val="5F73A0"/>
                </a:solidFill>
                <a:latin typeface="Inter"/>
              </a:defRPr>
            </a:pPr>
            <a:r>
              <a:t>Matematik aniqlik va xolis marketing ma'lumotlarini yig'ish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48840"/>
            <a:ext cx="10728655" cy="3703320"/>
          </a:xfrm>
          <a:prstGeom prst="roundRect">
            <a:avLst/>
          </a:prstGeom>
          <a:solidFill>
            <a:srgbClr val="13244D"/>
          </a:solidFill>
          <a:ln w="12700">
            <a:solidFill>
              <a:srgbClr val="2336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94A8CC"/>
                </a:solidFill>
                <a:latin typeface="Inter"/>
              </a:defRPr>
            </a:pPr>
            <a:r>
              <a:t>✦   Oddiy tasodifiy tanlash usuli har bir respondentga tadqiqotda ishtirok etish uchun teng imkoniyat berib, subyektiv yondashuvlarni butunlay bartaraf etadi va xolis natijalarni ta'minlaydi.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F73A0"/>
                </a:solidFill>
                <a:latin typeface="Inter"/>
              </a:defRPr>
            </a:pPr>
            <a:r>
              <a:t>SlydAI • MIDNIGHT-PITCH                             3 / 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E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548640"/>
            <a:ext cx="2194560" cy="347472"/>
          </a:xfrm>
          <a:prstGeom prst="roundRect">
            <a:avLst/>
          </a:prstGeom>
          <a:solidFill>
            <a:srgbClr val="13244D"/>
          </a:solidFill>
          <a:ln w="12700">
            <a:solidFill>
              <a:srgbClr val="2336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2E6BFF"/>
                </a:solidFill>
                <a:latin typeface="Inter"/>
              </a:defRPr>
            </a:pPr>
            <a:r>
              <a:t>SLAYD 04 / 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6012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Sora"/>
              </a:defRPr>
            </a:pPr>
            <a:r>
              <a:t>Ehtimolsiz Tanlash va [gradient: Tezkor] Qarorlar</a:t>
            </a:r>
          </a:p>
          <a:p>
            <a:pPr>
              <a:spcBef>
                <a:spcPts val="400"/>
              </a:spcBef>
              <a:defRPr sz="1500">
                <a:solidFill>
                  <a:srgbClr val="5F73A0"/>
                </a:solidFill>
                <a:latin typeface="Inter"/>
              </a:defRPr>
            </a:pPr>
            <a:r>
              <a:t>Cheklangan budjet va vaqt sharoitida marketing tahlili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48840"/>
            <a:ext cx="5212080" cy="3931920"/>
          </a:xfrm>
          <a:prstGeom prst="roundRect">
            <a:avLst/>
          </a:prstGeom>
          <a:solidFill>
            <a:srgbClr val="13244D"/>
          </a:solidFill>
          <a:ln w="12700">
            <a:solidFill>
              <a:srgbClr val="2336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200"/>
              </a:spcAft>
              <a:defRPr sz="1400" b="1">
                <a:solidFill>
                  <a:srgbClr val="2E6BFF"/>
                </a:solidFill>
                <a:latin typeface="Inter"/>
              </a:defRPr>
            </a:pPr>
            <a:r>
              <a:t>Asosiy tushunchalar</a:t>
            </a:r>
          </a:p>
          <a:p>
            <a:pPr>
              <a:spcAft>
                <a:spcPts val="1000"/>
              </a:spcAft>
              <a:defRPr sz="1400">
                <a:solidFill>
                  <a:srgbClr val="94A8CC"/>
                </a:solidFill>
                <a:latin typeface="Inter"/>
              </a:defRPr>
            </a:pPr>
            <a:r>
              <a:t>• Kvota bo'yicha tanlash usuli maqsadli auditoriyaning muhim xususiyatlarini (masalan, 60% ayollar va 40% erkaklar) oldindan belgilab, kerakli guruhlarni tezkorlik bilan qamrab oladi.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48095" y="2148840"/>
            <a:ext cx="5212080" cy="3931920"/>
          </a:xfrm>
          <a:prstGeom prst="roundRect">
            <a:avLst/>
          </a:prstGeom>
          <a:solidFill>
            <a:srgbClr val="13244D"/>
          </a:solidFill>
          <a:ln w="12700">
            <a:solidFill>
              <a:srgbClr val="2336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200"/>
              </a:spcAft>
              <a:defRPr sz="1400" b="1">
                <a:solidFill>
                  <a:srgbClr val="2E6BFF"/>
                </a:solidFill>
                <a:latin typeface="Inter"/>
              </a:defRPr>
            </a:pPr>
            <a:r>
              <a:t>Amaliy tahlil va ahamiyati</a:t>
            </a:r>
          </a:p>
          <a:p>
            <a:pPr>
              <a:spcAft>
                <a:spcPts val="1000"/>
              </a:spcAft>
              <a:defRPr sz="1400">
                <a:solidFill>
                  <a:srgbClr val="94A8CC"/>
                </a:solidFill>
                <a:latin typeface="Inter"/>
              </a:defRPr>
            </a:pPr>
            <a:r>
              <a:t>• Kvota bo'yicha tanlash usuli maqsadli auditoriyaning muhim xususiyatlarini (masalan, 60% ayollar va 40% erkaklar) oldindan belgilab, kerakli guruhlarni tezkorlik bilan qamrab oladi.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F73A0"/>
                </a:solidFill>
                <a:latin typeface="Inter"/>
              </a:defRPr>
            </a:pPr>
            <a:r>
              <a:t>SlydAI • MIDNIGHT-PITCH                             4 /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E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023360" y="731520"/>
            <a:ext cx="4144975" cy="411480"/>
          </a:xfrm>
          <a:prstGeom prst="roundRect">
            <a:avLst/>
          </a:prstGeom>
          <a:solidFill>
            <a:srgbClr val="13244D"/>
          </a:solidFill>
          <a:ln w="12700">
            <a:solidFill>
              <a:srgbClr val="2336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2E6BFF"/>
                </a:solidFill>
                <a:latin typeface="Inter"/>
              </a:defRPr>
            </a:pPr>
            <a:r>
              <a:t>XULOSA &amp; AMALIY TAVSIYALAR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280160"/>
            <a:ext cx="999713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>
                <a:solidFill>
                  <a:srgbClr val="FFFFFF"/>
                </a:solidFill>
                <a:latin typeface="Sora"/>
              </a:defRPr>
            </a:pPr>
            <a:r>
              <a:t>Samarali Tanlanma [gradient: Formulasi] va Xulosa</a:t>
            </a:r>
          </a:p>
          <a:p>
            <a:pPr algn="ctr">
              <a:spcBef>
                <a:spcPts val="600"/>
              </a:spcBef>
              <a:defRPr sz="1600">
                <a:solidFill>
                  <a:srgbClr val="94A8CC"/>
                </a:solidFill>
                <a:latin typeface="Inter"/>
              </a:defRPr>
            </a:pPr>
            <a:r>
              <a:t>Strategik qarorlar qabul qilishda ma'lumotlar ishonchliligi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" y="2926080"/>
            <a:ext cx="9997135" cy="2926080"/>
          </a:xfrm>
          <a:prstGeom prst="roundRect">
            <a:avLst/>
          </a:prstGeom>
          <a:solidFill>
            <a:srgbClr val="13244D"/>
          </a:solidFill>
          <a:ln w="12700">
            <a:solidFill>
              <a:srgbClr val="2336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  <a:defRPr sz="1200" b="1">
                <a:solidFill>
                  <a:srgbClr val="2E6BFF"/>
                </a:solidFill>
                <a:latin typeface="Inter"/>
              </a:defRPr>
            </a:pPr>
            <a:r>
              <a:t>Qadam 01</a:t>
            </a:r>
          </a:p>
          <a:p>
            <a:pPr>
              <a:defRPr sz="1400">
                <a:solidFill>
                  <a:srgbClr val="94A8CC"/>
                </a:solidFill>
                <a:latin typeface="Inter"/>
              </a:defRPr>
            </a:pPr>
            <a:r>
              <a:t>Maqsad va resurslar muvozanatini saqlang: strategik investitsiyalar uchun ehtimoliy usullarni, tezkor tezislar va kontseptual g'oyalarni tekshirish uchun esa ehtimolsiz usullarni tanlang.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F73A0"/>
                </a:solidFill>
                <a:latin typeface="Inter"/>
              </a:defRPr>
            </a:pPr>
            <a:r>
              <a:t>SlydAI • MIDNIGHT-PITCH                             5 / 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