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1005840"/>
            <a:ext cx="4327855" cy="438912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SLYDAI  •  AURORA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362895" cy="384048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55600" bIns="254000" lIns="457200" rIns="457200"/>
          <a:lstStyle/>
          <a:p>
            <a:pPr algn="l">
              <a:spcAft>
                <a:spcPts val="1600"/>
              </a:spcAft>
              <a:defRPr sz="3600" b="1">
                <a:solidFill>
                  <a:srgbClr val="F4F3FF"/>
                </a:solidFill>
                <a:latin typeface="Sora"/>
              </a:defRPr>
            </a:pPr>
            <a:r>
              <a:t>Sun'iy Intellekt va Kelajak Texnologiyalari</a:t>
            </a:r>
          </a:p>
          <a:p>
            <a:pPr algn="l">
              <a:spcAft>
                <a:spcPts val="2000"/>
              </a:spcAft>
              <a:defRPr sz="1700">
                <a:solidFill>
                  <a:srgbClr val="C3C0DE"/>
                </a:solidFill>
                <a:latin typeface="Spline Sans Mono"/>
              </a:defRPr>
            </a:pPr>
            <a:r>
              <a:t>Biznes va Ta'limda Transformatsiya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9728" cy="384048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715000"/>
            <a:ext cx="3246120" cy="6217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7C5CFF"/>
                </a:solidFill>
                <a:latin typeface="Spline Sans Mono"/>
              </a:defRPr>
            </a:pPr>
            <a:r>
              <a:t>TAQDIMOT TURI</a:t>
            </a:r>
          </a:p>
          <a:p>
            <a:pPr>
              <a:defRPr sz="1100">
                <a:solidFill>
                  <a:srgbClr val="C3C0DE"/>
                </a:solidFill>
                <a:latin typeface="Spline Sans Mono"/>
              </a:defRPr>
            </a:pPr>
            <a:r>
              <a:t>Aurora Professional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5715000"/>
            <a:ext cx="3246120" cy="6217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7C5CFF"/>
                </a:solidFill>
                <a:latin typeface="Spline Sans Mono"/>
              </a:defRPr>
            </a:pPr>
            <a:r>
              <a:t>SLAYDLAR SONI</a:t>
            </a:r>
          </a:p>
          <a:p>
            <a:pPr>
              <a:defRPr sz="1100">
                <a:solidFill>
                  <a:srgbClr val="C3C0DE"/>
                </a:solidFill>
                <a:latin typeface="Spline Sans Mono"/>
              </a:defRPr>
            </a:pPr>
            <a:r>
              <a:t>4 ta to'liq slayd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715000"/>
            <a:ext cx="3246120" cy="6217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7C5CFF"/>
                </a:solidFill>
                <a:latin typeface="Spline Sans Mono"/>
              </a:defRPr>
            </a:pPr>
            <a:r>
              <a:t>TAHLIL DARAJASI</a:t>
            </a:r>
          </a:p>
          <a:p>
            <a:pPr>
              <a:defRPr sz="1100">
                <a:solidFill>
                  <a:srgbClr val="C3C0DE"/>
                </a:solidFill>
                <a:latin typeface="Spline Sans Mono"/>
              </a:defRPr>
            </a:pPr>
            <a:r>
              <a:t>Ekspert &amp; Amaliy Yo'riqnoma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377440" cy="329184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3FF"/>
                </a:solidFill>
                <a:latin typeface="Sora"/>
              </a:defRPr>
            </a:pPr>
            <a:r>
              <a:t>Taqdimot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4F3FF"/>
                </a:solidFill>
                <a:latin typeface="Sora"/>
              </a:rPr>
              <a:t>AI Asoslari  —  </a:t>
            </a:r>
            <a:r>
              <a:rPr sz="1300">
                <a:solidFill>
                  <a:srgbClr val="C3C0DE"/>
                </a:solidFill>
                <a:latin typeface="Spline Sans Mono"/>
              </a:rPr>
              <a:t>Mashinaviy o'rganish va neyron tarmoqlar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92807"/>
            <a:ext cx="685800" cy="745236"/>
          </a:xfrm>
          <a:prstGeom prst="roundRect">
            <a:avLst/>
          </a:prstGeom>
          <a:solidFill>
            <a:srgbClr val="0B0B16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7C5CFF"/>
                </a:solidFill>
                <a:latin typeface="Spline Sans Mono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750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4F3FF"/>
                </a:solidFill>
                <a:latin typeface="Sora"/>
              </a:rPr>
              <a:t>Biznes Tadbiqi  —  </a:t>
            </a:r>
            <a:r>
              <a:rPr sz="1300">
                <a:solidFill>
                  <a:srgbClr val="C3C0DE"/>
                </a:solidFill>
                <a:latin typeface="Spline Sans Mono"/>
              </a:rPr>
              <a:t>Avtomatlashtirish va samaradorlikni oshirish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67228"/>
            <a:ext cx="685800" cy="745236"/>
          </a:xfrm>
          <a:prstGeom prst="roundRect">
            <a:avLst/>
          </a:prstGeom>
          <a:solidFill>
            <a:srgbClr val="0B0B16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7C5CFF"/>
                </a:solidFill>
                <a:latin typeface="Spline Sans Mono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4F3FF"/>
                </a:solidFill>
                <a:latin typeface="Sora"/>
              </a:rPr>
              <a:t>Xavflar va Xavfsizlik  —  </a:t>
            </a:r>
            <a:r>
              <a:rPr sz="1300">
                <a:solidFill>
                  <a:srgbClr val="C3C0DE"/>
                </a:solidFill>
                <a:latin typeface="Spline Sans Mono"/>
              </a:rPr>
              <a:t>Etika va ma'lumotlar maxfiyligi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41648"/>
            <a:ext cx="685800" cy="745236"/>
          </a:xfrm>
          <a:prstGeom prst="roundRect">
            <a:avLst/>
          </a:prstGeom>
          <a:solidFill>
            <a:srgbClr val="0B0B16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7C5CFF"/>
                </a:solidFill>
                <a:latin typeface="Spline Sans Mono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0634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4F3FF"/>
                </a:solidFill>
                <a:latin typeface="Sora"/>
              </a:rPr>
              <a:t>Kelajak Istiqbollari  —  </a:t>
            </a:r>
            <a:r>
              <a:rPr sz="1300">
                <a:solidFill>
                  <a:srgbClr val="C3C0DE"/>
                </a:solidFill>
                <a:latin typeface="Spline Sans Mono"/>
              </a:rPr>
              <a:t>Keyingi 10 yillikdagi asosiy trendlar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16068"/>
            <a:ext cx="685800" cy="745236"/>
          </a:xfrm>
          <a:prstGeom prst="roundRect">
            <a:avLst/>
          </a:prstGeom>
          <a:solidFill>
            <a:srgbClr val="0B0B16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7C5CFF"/>
                </a:solidFill>
                <a:latin typeface="Spline Sans Mono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194560" cy="329184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SLAYD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4F3FF"/>
                </a:solidFill>
                <a:latin typeface="Sora"/>
              </a:defRPr>
            </a:pPr>
            <a:r>
              <a:t>Sun'iy Intellektning Biznesga Ta'siri</a:t>
            </a:r>
          </a:p>
          <a:p>
            <a:pPr>
              <a:spcBef>
                <a:spcPts val="300"/>
              </a:spcBef>
              <a:defRPr sz="1400">
                <a:solidFill>
                  <a:srgbClr val="C3C0DE"/>
                </a:solidFill>
                <a:latin typeface="Spline Sans Mono"/>
              </a:defRPr>
            </a:pPr>
            <a:r>
              <a:t>Strategik afzalliklar va resurslarni tejash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30368" cy="41605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7C5CFF"/>
                </a:solidFill>
                <a:latin typeface="Sora"/>
              </a:defRPr>
            </a:pPr>
            <a:r>
              <a:t>Asosiy Tushunchalar va Tahlil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300" b="1">
                <a:solidFill>
                  <a:srgbClr val="F4F3FF"/>
                </a:solidFill>
                <a:latin typeface="Spline Sans Mono"/>
              </a:rPr>
              <a:t>Jarayonlarni Avtomatlashtirish: </a:t>
            </a:r>
            <a:r>
              <a:rPr sz="1300">
                <a:solidFill>
                  <a:srgbClr val="C3C0DE"/>
                </a:solidFill>
                <a:latin typeface="Spline Sans Mono"/>
              </a:rPr>
              <a:t>Rutin va takrorlanuvchi operatsiyalarni to'liq avtomatlashtirish orqali inson resurslarini strategik vazifalarga yo'naltirish va operatsion xarajatlarni 40% gacha qisqartirish imkoniyati.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300" b="1">
                <a:solidFill>
                  <a:srgbClr val="F4F3FF"/>
                </a:solidFill>
                <a:latin typeface="Spline Sans Mono"/>
              </a:rPr>
              <a:t>Katta Ma'lumotlar Tahlili: </a:t>
            </a:r>
            <a:r>
              <a:rPr sz="1300">
                <a:solidFill>
                  <a:srgbClr val="C3C0DE"/>
                </a:solidFill>
                <a:latin typeface="Spline Sans Mono"/>
              </a:rPr>
              <a:t>Katta hajmdagi biznes ma'lumotlarini real vaqt rejimida qayta ishlash, mijozlar xulq-atvorini prognoz qilish va aniq qarorlar qabul qilish tizimi.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920240"/>
            <a:ext cx="5230368" cy="41605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7C5CFF"/>
                </a:solidFill>
                <a:latin typeface="Sora"/>
              </a:defRPr>
            </a:pPr>
            <a:r>
              <a:t>Amaliy Tatbiq va Strategik Natijalar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300" b="1">
                <a:solidFill>
                  <a:srgbClr val="F4F3FF"/>
                </a:solidFill>
                <a:latin typeface="Spline Sans Mono"/>
              </a:rPr>
              <a:t>Mijozlar Tajribasini Yaxshilash: </a:t>
            </a:r>
            <a:r>
              <a:rPr sz="1300">
                <a:solidFill>
                  <a:srgbClr val="C3C0DE"/>
                </a:solidFill>
                <a:latin typeface="Spline Sans Mono"/>
              </a:rPr>
              <a:t>AI yordamidagi shaxsiylashtirilgan takliflar va 24/7 ishlaydigan aqlli yordamchilar orqali konversiya va sodiqlikni sezilarli oshirish.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920240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502920"/>
            <a:ext cx="4327855" cy="329184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800" b="1">
                <a:solidFill>
                  <a:srgbClr val="F4F3FF"/>
                </a:solidFill>
                <a:latin typeface="Sora"/>
              </a:defRPr>
            </a:pPr>
            <a:r>
              <a:t>Yakuniy Xulosa va Harakatlar Rejasi</a:t>
            </a:r>
          </a:p>
          <a:p>
            <a:pPr algn="ctr">
              <a:spcBef>
                <a:spcPts val="400"/>
              </a:spcBef>
              <a:defRPr sz="1400">
                <a:solidFill>
                  <a:srgbClr val="C3C0DE"/>
                </a:solidFill>
                <a:latin typeface="Spline Sans Mono"/>
              </a:defRPr>
            </a:pPr>
            <a:r>
              <a:t>Tizimli transformatsiya uchun 3 muhim qadam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93338" cy="406908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01. ASOSIY XULOSA</a:t>
            </a:r>
          </a:p>
          <a:p>
            <a:pPr>
              <a:spcAft>
                <a:spcPts val="10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Infratuzilmani Tayyorlash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Korxona ichki ma'lumotlar bazasini tartibga solish va xavfsiz integratsiyani ta'minlash.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393338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9178" y="2011680"/>
            <a:ext cx="3393338" cy="406908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02. AMALIY TAVSIYA</a:t>
            </a:r>
          </a:p>
          <a:p>
            <a:pPr>
              <a:spcAft>
                <a:spcPts val="10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Xodimlarni O'qitish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Jamoaga zamonaviy AI instrumentlaridan foydalanish ko'nikmalarini singdirish.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2011680"/>
            <a:ext cx="3393338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66836" y="2011680"/>
            <a:ext cx="3393338" cy="406908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03. KUTILAYOTGAN NATIJA</a:t>
            </a:r>
          </a:p>
          <a:p>
            <a:pPr>
              <a:spcAft>
                <a:spcPts val="10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Doimiy Monitoring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Olingan natijalarni o'lchab borish va algoritmlarni biznes talablariga moslab optimallashtirish.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2011680"/>
            <a:ext cx="3393338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