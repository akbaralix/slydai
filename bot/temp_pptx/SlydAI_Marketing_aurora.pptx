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868680"/>
            <a:ext cx="4693615" cy="475488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 bIns="63500" lIns="127000" rIns="127000"/>
          <a:lstStyle/>
          <a:p>
            <a:pPr algn="ctr">
              <a:defRPr sz="1200" b="1">
                <a:solidFill>
                  <a:srgbClr val="7C5CFF"/>
                </a:solidFill>
                <a:latin typeface="Spline Sans Mono"/>
              </a:defRPr>
            </a:pPr>
            <a:r>
              <a:t>SLYDAI  •  AURORA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62895" cy="3977639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0" bIns="254000" lIns="482600" rIns="482600"/>
          <a:lstStyle/>
          <a:p>
            <a:pPr algn="l">
              <a:spcAft>
                <a:spcPts val="1600"/>
              </a:spcAft>
              <a:defRPr sz="3400" b="1">
                <a:solidFill>
                  <a:srgbClr val="F4F3FF"/>
                </a:solidFill>
                <a:latin typeface="Sora"/>
              </a:defRPr>
            </a:pPr>
            <a:r>
              <a:t>Zamonaviy Marketing: Raqamli Asrda Strategik Ustunlik</a:t>
            </a:r>
          </a:p>
          <a:p>
            <a:pPr algn="l">
              <a:spcAft>
                <a:spcPts val="2000"/>
              </a:spcAft>
              <a:defRPr sz="1900">
                <a:solidFill>
                  <a:srgbClr val="C3C0DE"/>
                </a:solidFill>
                <a:latin typeface="Spline Sans Mono"/>
              </a:defRPr>
            </a:pPr>
            <a:r>
              <a:t>Brending, Analitika va Mijozlar Tajribasini Yangi Bosqichga Olib Chiqish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09728" cy="3977639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687568"/>
            <a:ext cx="3246120" cy="658368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50" b="1">
                <a:solidFill>
                  <a:srgbClr val="7C5CFF"/>
                </a:solidFill>
                <a:latin typeface="Spline Sans Mono"/>
              </a:defRPr>
            </a:pPr>
            <a:r>
              <a:t>TAQDIMOT TURI</a:t>
            </a:r>
          </a:p>
          <a:p>
            <a:pPr>
              <a:defRPr sz="1200">
                <a:solidFill>
                  <a:srgbClr val="C3C0DE"/>
                </a:solidFill>
                <a:latin typeface="Spline Sans Mono"/>
              </a:defRPr>
            </a:pPr>
            <a:r>
              <a:t>Aurora Professional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5687568"/>
            <a:ext cx="3246120" cy="658368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50" b="1">
                <a:solidFill>
                  <a:srgbClr val="7C5CFF"/>
                </a:solidFill>
                <a:latin typeface="Spline Sans Mono"/>
              </a:defRPr>
            </a:pPr>
            <a:r>
              <a:t>SLAYDLAR SONI</a:t>
            </a:r>
          </a:p>
          <a:p>
            <a:pPr>
              <a:defRPr sz="1200">
                <a:solidFill>
                  <a:srgbClr val="C3C0DE"/>
                </a:solidFill>
                <a:latin typeface="Spline Sans Mono"/>
              </a:defRPr>
            </a:pPr>
            <a:r>
              <a:t>4 ta to'liq slayd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5687568"/>
            <a:ext cx="3246120" cy="658368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50" b="1">
                <a:solidFill>
                  <a:srgbClr val="7C5CFF"/>
                </a:solidFill>
                <a:latin typeface="Spline Sans Mono"/>
              </a:defRPr>
            </a:pPr>
            <a:r>
              <a:t>TAHLIL DARAJASI</a:t>
            </a:r>
          </a:p>
          <a:p>
            <a:pPr>
              <a:defRPr sz="1200">
                <a:solidFill>
                  <a:srgbClr val="C3C0DE"/>
                </a:solidFill>
                <a:latin typeface="Spline Sans Mono"/>
              </a:defRPr>
            </a:pPr>
            <a:r>
              <a:t>Ekspert &amp; Amaliy Yo'riqnoma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SlydAI  •  AURORA                         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REJA VA 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F4F3FF"/>
                </a:solidFill>
                <a:latin typeface="Sora"/>
              </a:defRPr>
            </a:pPr>
            <a:r>
              <a:t>Taqdimot Rejasi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9646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06500" rIns="228600"/>
          <a:lstStyle/>
          <a:p>
            <a:pPr algn="ctr"/>
            <a:r>
              <a:rPr sz="1650" b="1">
                <a:solidFill>
                  <a:srgbClr val="F4F3FF"/>
                </a:solidFill>
                <a:latin typeface="Sora"/>
              </a:rPr>
              <a:t>Raqamli Transformatsiya  —  </a:t>
            </a:r>
            <a:r>
              <a:rPr sz="1450">
                <a:solidFill>
                  <a:srgbClr val="C3C0DE"/>
                </a:solidFill>
                <a:latin typeface="Spline Sans Mono"/>
              </a:rPr>
              <a:t>An'anaviy marketingdan raqamli ekotizimlarga o'tish bosqichlari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777240" cy="781812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600" b="1">
                <a:solidFill>
                  <a:srgbClr val="7C5CFF"/>
                </a:solidFill>
                <a:latin typeface="Spline Sans Mono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57500"/>
            <a:ext cx="10728655" cy="9646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06500" rIns="228600"/>
          <a:lstStyle/>
          <a:p>
            <a:pPr algn="ctr"/>
            <a:r>
              <a:rPr sz="1650" b="1">
                <a:solidFill>
                  <a:srgbClr val="F4F3FF"/>
                </a:solidFill>
                <a:latin typeface="Sora"/>
              </a:rPr>
              <a:t>Data-Driven Strategiya  —  </a:t>
            </a:r>
            <a:r>
              <a:rPr sz="1450">
                <a:solidFill>
                  <a:srgbClr val="C3C0DE"/>
                </a:solidFill>
                <a:latin typeface="Spline Sans Mono"/>
              </a:rPr>
              <a:t>Ma'lumotlar tahlili va iste'molchilar segmentatsiyasi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48940"/>
            <a:ext cx="777240" cy="781812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600" b="1">
                <a:solidFill>
                  <a:srgbClr val="7C5CFF"/>
                </a:solidFill>
                <a:latin typeface="Spline Sans Mono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9646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06500" rIns="228600"/>
          <a:lstStyle/>
          <a:p>
            <a:pPr algn="ctr"/>
            <a:r>
              <a:rPr sz="1650" b="1">
                <a:solidFill>
                  <a:srgbClr val="F4F3FF"/>
                </a:solidFill>
                <a:latin typeface="Sora"/>
              </a:rPr>
              <a:t>Omnichannel Tajriba  —  </a:t>
            </a:r>
            <a:r>
              <a:rPr sz="1450">
                <a:solidFill>
                  <a:srgbClr val="C3C0DE"/>
                </a:solidFill>
                <a:latin typeface="Spline Sans Mono"/>
              </a:rPr>
              <a:t>Barcha aloqa kanallarini yagona tizimga birlashtirish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59"/>
            <a:ext cx="777240" cy="781812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600" b="1">
                <a:solidFill>
                  <a:srgbClr val="7C5CFF"/>
                </a:solidFill>
                <a:latin typeface="Spline Sans Mono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06340"/>
            <a:ext cx="10728655" cy="96469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06500" rIns="228600"/>
          <a:lstStyle/>
          <a:p>
            <a:pPr algn="ctr"/>
            <a:r>
              <a:rPr sz="1650" b="1">
                <a:solidFill>
                  <a:srgbClr val="F4F3FF"/>
                </a:solidFill>
                <a:latin typeface="Sora"/>
              </a:rPr>
              <a:t>Natijadorlik &amp; ROI  —  </a:t>
            </a:r>
            <a:r>
              <a:rPr sz="1450">
                <a:solidFill>
                  <a:srgbClr val="C3C0DE"/>
                </a:solidFill>
                <a:latin typeface="Spline Sans Mono"/>
              </a:rPr>
              <a:t>Marketing investitsiyalarining samaradorligini o'lchash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97780"/>
            <a:ext cx="777240" cy="781812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600" b="1">
                <a:solidFill>
                  <a:srgbClr val="7C5CFF"/>
                </a:solidFill>
                <a:latin typeface="Spline Sans Mono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SlydAI  •  AURORA                         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377440" cy="34747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SLAYD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3FF"/>
                </a:solidFill>
                <a:latin typeface="Sora"/>
              </a:defRPr>
            </a:pPr>
            <a:r>
              <a:t>Omnichannel Strategiyasi va Mijozlar Sodiqligi</a:t>
            </a:r>
          </a:p>
          <a:p>
            <a:pPr>
              <a:spcBef>
                <a:spcPts val="300"/>
              </a:spcBef>
              <a:defRPr sz="1550">
                <a:solidFill>
                  <a:srgbClr val="C3C0DE"/>
                </a:solidFill>
                <a:latin typeface="Spline Sans Mono"/>
              </a:defRPr>
            </a:pPr>
            <a:r>
              <a:t>Turli platformalarda uzluksiz aloqa o'rnatish tamoyillari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54000" rIns="254000"/>
          <a:lstStyle/>
          <a:p>
            <a:pPr algn="ctr">
              <a:spcAft>
                <a:spcPts val="1200"/>
              </a:spcAft>
              <a:defRPr sz="1600" b="1">
                <a:solidFill>
                  <a:srgbClr val="7C5CFF"/>
                </a:solidFill>
                <a:latin typeface="Sora"/>
              </a:defRPr>
            </a:pPr>
            <a:r>
              <a:t>Asosiy Tushunchalar va Tahlil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450" b="1">
                <a:solidFill>
                  <a:srgbClr val="F4F3FF"/>
                </a:solidFill>
                <a:latin typeface="Spline Sans Mono"/>
              </a:rPr>
              <a:t>Yagona Ekotizim: </a:t>
            </a:r>
            <a:r>
              <a:rPr sz="1400">
                <a:solidFill>
                  <a:srgbClr val="C3C0DE"/>
                </a:solidFill>
                <a:latin typeface="Spline Sans Mono"/>
              </a:rPr>
              <a:t>Ijtimoiy tarmoqlar, veb-sayt, mobil ilova va to'g'ridan-to'g'ri savdo nuqtalarini yagona ma'lumotlar bazasi orqali integratsiya qilish.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450" b="1">
                <a:solidFill>
                  <a:srgbClr val="F4F3FF"/>
                </a:solidFill>
                <a:latin typeface="Spline Sans Mono"/>
              </a:rPr>
              <a:t>Shaxsiylashtirilgan Yondashuv: </a:t>
            </a:r>
            <a:r>
              <a:rPr sz="1400">
                <a:solidFill>
                  <a:srgbClr val="C3C0DE"/>
                </a:solidFill>
                <a:latin typeface="Spline Sans Mono"/>
              </a:rPr>
              <a:t>Har bir mijozning qiziqishi va xarid tarixiga asoslangan maxsus takliflar va dinamik kontent yetkazib berish tizimi.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807" y="1874519"/>
            <a:ext cx="5230368" cy="425196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54000" rIns="254000"/>
          <a:lstStyle/>
          <a:p>
            <a:pPr algn="ctr">
              <a:spcAft>
                <a:spcPts val="1200"/>
              </a:spcAft>
              <a:defRPr sz="1600" b="1">
                <a:solidFill>
                  <a:srgbClr val="7C5CFF"/>
                </a:solidFill>
                <a:latin typeface="Sora"/>
              </a:defRPr>
            </a:pPr>
            <a:r>
              <a:t>Amaliy Tatbiq va Strategik Natijalar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450" b="1">
                <a:solidFill>
                  <a:srgbClr val="F4F3FF"/>
                </a:solidFill>
                <a:latin typeface="Spline Sans Mono"/>
              </a:rPr>
              <a:t>Tezkor Qayta Aloqa: </a:t>
            </a:r>
            <a:r>
              <a:rPr sz="1400">
                <a:solidFill>
                  <a:srgbClr val="C3C0DE"/>
                </a:solidFill>
                <a:latin typeface="Spline Sans Mono"/>
              </a:rPr>
              <a:t>Avtomatlashtirilgan xizmat ko'rsatish va mijozlarning fikr-mulohazalarini real vaqtda tahlil qilish mexanizmi.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807" y="1874519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SlydAI  •  AURORA                         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457200"/>
            <a:ext cx="4693615" cy="34747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XULOSA VA STRATEGIK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3000" b="1">
                <a:solidFill>
                  <a:srgbClr val="F4F3FF"/>
                </a:solidFill>
                <a:latin typeface="Sora"/>
              </a:defRPr>
            </a:pPr>
            <a:r>
              <a:t>Yakuniy Xulosa va Harakatlar Rejasi</a:t>
            </a:r>
          </a:p>
          <a:p>
            <a:pPr algn="ctr">
              <a:spcBef>
                <a:spcPts val="400"/>
              </a:spcBef>
              <a:defRPr sz="1550">
                <a:solidFill>
                  <a:srgbClr val="C3C0DE"/>
                </a:solidFill>
                <a:latin typeface="Spline Sans Mono"/>
              </a:defRPr>
            </a:pPr>
            <a:r>
              <a:t>Marketingda muvaffaqiyatga erishish uchun 3 ta asosiy tavsiya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93338" cy="41605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28600" rIns="228600"/>
          <a:lstStyle/>
          <a:p>
            <a:pPr algn="ctr">
              <a:spcAft>
                <a:spcPts val="1200"/>
              </a:spcAft>
              <a:defRPr sz="1150" b="1">
                <a:solidFill>
                  <a:srgbClr val="7C5CFF"/>
                </a:solidFill>
                <a:latin typeface="Spline Sans Mono"/>
              </a:defRPr>
            </a:pPr>
            <a:r>
              <a:t>01. ASOSIY XULOSA</a:t>
            </a:r>
          </a:p>
          <a:p>
            <a:pPr>
              <a:spcAft>
                <a:spcPts val="1000"/>
              </a:spcAft>
              <a:defRPr sz="1700" b="1">
                <a:solidFill>
                  <a:srgbClr val="F4F3FF"/>
                </a:solidFill>
                <a:latin typeface="Sora"/>
              </a:defRPr>
            </a:pPr>
            <a:r>
              <a:t>Analitika Tizimini O'rnatish</a:t>
            </a:r>
          </a:p>
          <a:p>
            <a:pPr>
              <a:defRPr sz="1400">
                <a:solidFill>
                  <a:srgbClr val="C3C0DE"/>
                </a:solidFill>
                <a:latin typeface="Spline Sans Mono"/>
              </a:defRPr>
            </a:pPr>
            <a:r>
              <a:t>To'liq hisobot va metrikalarni kuzatib boruvchi zamonaviy analitika vositalarini joriy qilish.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3393338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9178" y="1965960"/>
            <a:ext cx="3393338" cy="41605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28600" rIns="228600"/>
          <a:lstStyle/>
          <a:p>
            <a:pPr algn="ctr">
              <a:spcAft>
                <a:spcPts val="1200"/>
              </a:spcAft>
              <a:defRPr sz="1150" b="1">
                <a:solidFill>
                  <a:srgbClr val="7C5CFF"/>
                </a:solidFill>
                <a:latin typeface="Spline Sans Mono"/>
              </a:defRPr>
            </a:pPr>
            <a:r>
              <a:t>02. AMALIY TAVSIYA</a:t>
            </a:r>
          </a:p>
          <a:p>
            <a:pPr>
              <a:spcAft>
                <a:spcPts val="1000"/>
              </a:spcAft>
              <a:defRPr sz="1700" b="1">
                <a:solidFill>
                  <a:srgbClr val="F4F3FF"/>
                </a:solidFill>
                <a:latin typeface="Sora"/>
              </a:defRPr>
            </a:pPr>
            <a:r>
              <a:t>Kontent Strategiyasini Yangilash</a:t>
            </a:r>
          </a:p>
          <a:p>
            <a:pPr>
              <a:defRPr sz="1400">
                <a:solidFill>
                  <a:srgbClr val="C3C0DE"/>
                </a:solidFill>
                <a:latin typeface="Spline Sans Mono"/>
              </a:defRPr>
            </a:pPr>
            <a:r>
              <a:t>Mijozlar uchun yuqori qiymatga ega bo'lgan ta'limiy va qiziqarli kontent yaratish.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1965960"/>
            <a:ext cx="3393338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66836" y="1965960"/>
            <a:ext cx="3393338" cy="41605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28600" rIns="228600"/>
          <a:lstStyle/>
          <a:p>
            <a:pPr algn="ctr">
              <a:spcAft>
                <a:spcPts val="1200"/>
              </a:spcAft>
              <a:defRPr sz="1150" b="1">
                <a:solidFill>
                  <a:srgbClr val="7C5CFF"/>
                </a:solidFill>
                <a:latin typeface="Spline Sans Mono"/>
              </a:defRPr>
            </a:pPr>
            <a:r>
              <a:t>03. KUTILAYOTGAN NATIJA</a:t>
            </a:r>
          </a:p>
          <a:p>
            <a:pPr>
              <a:spcAft>
                <a:spcPts val="1000"/>
              </a:spcAft>
              <a:defRPr sz="1700" b="1">
                <a:solidFill>
                  <a:srgbClr val="F4F3FF"/>
                </a:solidFill>
                <a:latin typeface="Sora"/>
              </a:defRPr>
            </a:pPr>
            <a:r>
              <a:t>Muntazam A/B Sinovlar</a:t>
            </a:r>
          </a:p>
          <a:p>
            <a:pPr>
              <a:defRPr sz="1400">
                <a:solidFill>
                  <a:srgbClr val="C3C0DE"/>
                </a:solidFill>
                <a:latin typeface="Spline Sans Mono"/>
              </a:defRPr>
            </a:pPr>
            <a:r>
              <a:t>Reklama kampaniyalari va konversiya elementlarini doimiy ravishda sinovdan o'tkazib borish.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1965960"/>
            <a:ext cx="3393338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SlydAI  •  AURORA                         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