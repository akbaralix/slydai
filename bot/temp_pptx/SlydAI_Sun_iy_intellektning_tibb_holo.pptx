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6590" y="1371600"/>
            <a:ext cx="3657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3B7FF"/>
                </a:solidFill>
                <a:latin typeface="Inter"/>
              </a:defRPr>
            </a:pPr>
            <a:r>
              <a:t>SLYDAI PRESENTATSIYA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A3A46"/>
                </a:solidFill>
                <a:latin typeface="Sora"/>
              </a:defRPr>
            </a:pPr>
            <a:r>
              <a:t>Tibbiyotda *Inqilob*: Sun'iy Intellekt</a:t>
            </a:r>
          </a:p>
          <a:p>
            <a:pPr algn="ctr">
              <a:spcBef>
                <a:spcPts val="1800"/>
              </a:spcBef>
              <a:defRPr sz="2000">
                <a:solidFill>
                  <a:srgbClr val="5C5C6A"/>
                </a:solidFill>
                <a:latin typeface="Inter"/>
              </a:defRPr>
            </a:pPr>
            <a:r>
              <a:t>Sog'liqni saqlashning yangi davri va aqlli texnologiyalar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5303520"/>
            <a:ext cx="1371600" cy="54864"/>
          </a:xfrm>
          <a:prstGeom prst="round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3B7FF"/>
                </a:solidFill>
                <a:latin typeface="Inter"/>
              </a:defRPr>
            </a:pPr>
            <a:r>
              <a:t>SLAYD 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A3A46"/>
                </a:solidFill>
                <a:latin typeface="Sora"/>
              </a:defRPr>
            </a:pPr>
            <a:r>
              <a:t>Bugungi *Mundarija* va Reja</a:t>
            </a:r>
          </a:p>
          <a:p>
            <a:pPr>
              <a:spcBef>
                <a:spcPts val="400"/>
              </a:spcBef>
              <a:defRPr sz="1600">
                <a:solidFill>
                  <a:srgbClr val="8A8A98"/>
                </a:solidFill>
                <a:latin typeface="Inter"/>
              </a:defRPr>
            </a:pPr>
            <a:r>
              <a:t>Asosiy yo'nalishlar va muhokama mavzulari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5C5C6A"/>
                </a:solidFill>
                <a:latin typeface="Inter"/>
              </a:defRPr>
            </a:pPr>
            <a:r>
              <a:t>✦  Diagnostika: Tezkor va o'ta aniq tahlil 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3B7FF"/>
                </a:solidFill>
                <a:latin typeface="Inter"/>
              </a:defRPr>
            </a:pPr>
            <a:r>
              <a:t>SLAYD 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A3A46"/>
                </a:solidFill>
                <a:latin typeface="Sora"/>
              </a:defRPr>
            </a:pPr>
            <a:r>
              <a:t>Tezkor *Diagnostika* va Aniqlik</a:t>
            </a:r>
          </a:p>
          <a:p>
            <a:pPr>
              <a:spcBef>
                <a:spcPts val="400"/>
              </a:spcBef>
              <a:defRPr sz="1600">
                <a:solidFill>
                  <a:srgbClr val="8A8A98"/>
                </a:solidFill>
                <a:latin typeface="Inter"/>
              </a:defRPr>
            </a:pPr>
            <a:r>
              <a:t>Kasalliklarni erta aniqlashda neyrotarmoqlar kuchi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5C5C6A"/>
                </a:solidFill>
                <a:latin typeface="Inter"/>
              </a:defRPr>
            </a:pPr>
            <a:r>
              <a:t>✦  99% Aniqlik: Saraton hujayralarini erta bosqichda aniqlash ko'rsatkichi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3B7FF"/>
                </a:solidFill>
                <a:latin typeface="Inter"/>
              </a:defRPr>
            </a:pPr>
            <a:r>
              <a:t>SLAYD 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A3A46"/>
                </a:solidFill>
                <a:latin typeface="Sora"/>
              </a:defRPr>
            </a:pPr>
            <a:r>
              <a:t>Shaxsiy *Yondashuv* va Davolash</a:t>
            </a:r>
          </a:p>
          <a:p>
            <a:pPr>
              <a:spcBef>
                <a:spcPts val="400"/>
              </a:spcBef>
              <a:defRPr sz="1600">
                <a:solidFill>
                  <a:srgbClr val="8A8A98"/>
                </a:solidFill>
                <a:latin typeface="Inter"/>
              </a:defRPr>
            </a:pPr>
            <a:r>
              <a:t>Har bir bemor uchun alohida dori va reja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5C5C6A"/>
                </a:solidFill>
                <a:latin typeface="Inter"/>
              </a:defRPr>
            </a:pPr>
            <a:r>
              <a:t>✦  Genom Tahlili: DNK asosida individual davolash usullarini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23360" y="914400"/>
            <a:ext cx="4114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3B7FF"/>
                </a:solidFill>
                <a:latin typeface="Inter"/>
              </a:defRPr>
            </a:pPr>
            <a:r>
              <a:t>XULOSA &amp; KEYINGI QADAMLAR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A3A46"/>
                </a:solidFill>
                <a:latin typeface="Sora"/>
              </a:defRPr>
            </a:pPr>
            <a:r>
              <a:t>Kelajakni Birgalikda *Yaratamiz*</a:t>
            </a:r>
          </a:p>
          <a:p>
            <a:pPr algn="ctr">
              <a:spcBef>
                <a:spcPts val="800"/>
              </a:spcBef>
              <a:defRPr sz="1700">
                <a:solidFill>
                  <a:srgbClr val="5C5C6A"/>
                </a:solidFill>
                <a:latin typeface="Inter"/>
              </a:defRPr>
            </a:pPr>
            <a:r>
              <a:t>Sog'liqni saqlash tizimini raqamlashtirish sari qadam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944849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5C5C6A"/>
                </a:solidFill>
                <a:latin typeface="Inter"/>
              </a:defRPr>
            </a:pPr>
            <a:r>
              <a:t>✦  Hamkorlik: Shifokorlar tajribasi va AI algoritmlari ittifoqi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