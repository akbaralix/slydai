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868680"/>
            <a:ext cx="4693615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3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3500" bIns="63500" lIns="127000" rIns="127000"/>
          <a:lstStyle/>
          <a:p>
            <a:pPr algn="ctr">
              <a:defRPr sz="1200" b="1">
                <a:solidFill>
                  <a:srgbClr val="C3B7FF"/>
                </a:solidFill>
                <a:latin typeface="Inter"/>
              </a:defRPr>
            </a:pPr>
            <a:r>
              <a:t>SLYDAI  •  HOLO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2895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81000" bIns="254000" lIns="482600" rIns="482600"/>
          <a:lstStyle/>
          <a:p>
            <a:pPr algn="l">
              <a:spcAft>
                <a:spcPts val="1600"/>
              </a:spcAft>
              <a:defRPr sz="3400" b="1">
                <a:solidFill>
                  <a:srgbClr val="3A3A46"/>
                </a:solidFill>
                <a:latin typeface="Sora"/>
              </a:defRPr>
            </a:pPr>
            <a:r>
              <a:t>Marketingning Vazifasi: Zamonaviy Biznesdagi **Strategik** Rol</a:t>
            </a:r>
          </a:p>
          <a:p>
            <a:pPr algn="l">
              <a:spcAft>
                <a:spcPts val="2000"/>
              </a:spcAft>
              <a:defRPr sz="1900">
                <a:solidFill>
                  <a:srgbClr val="5C5C6A"/>
                </a:solidFill>
                <a:latin typeface="Inter"/>
              </a:defRPr>
            </a:pPr>
            <a:r>
              <a:t>Bozor talablarini shakllantirish, mijozlar bilan aloqalarni mustahkamlash va barqaror o'sishni ta'minlashning asosiy tamoyillari.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109728" cy="3977639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687568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C3B7FF"/>
                </a:solidFill>
                <a:latin typeface="Inter"/>
              </a:defRPr>
            </a:pPr>
            <a:r>
              <a:t>TAQDIMOT TURI</a:t>
            </a:r>
          </a:p>
          <a:p>
            <a:pPr>
              <a:defRPr sz="1200">
                <a:solidFill>
                  <a:srgbClr val="5C5C6A"/>
                </a:solidFill>
                <a:latin typeface="Inter"/>
              </a:defRPr>
            </a:pPr>
            <a:r>
              <a:t>Holo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687568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C3B7FF"/>
                </a:solidFill>
                <a:latin typeface="Inter"/>
              </a:defRPr>
            </a:pPr>
            <a:r>
              <a:t>SLAYDLAR SONI</a:t>
            </a:r>
          </a:p>
          <a:p>
            <a:pPr>
              <a:defRPr sz="1200">
                <a:solidFill>
                  <a:srgbClr val="5C5C6A"/>
                </a:solidFill>
                <a:latin typeface="Inter"/>
              </a:defRPr>
            </a:pPr>
            <a:r>
              <a:t>5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687568"/>
            <a:ext cx="32461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50" b="1">
                <a:solidFill>
                  <a:srgbClr val="C3B7FF"/>
                </a:solidFill>
                <a:latin typeface="Inter"/>
              </a:defRPr>
            </a:pPr>
            <a:r>
              <a:t>TAHLIL DARAJASI</a:t>
            </a:r>
          </a:p>
          <a:p>
            <a:pPr>
              <a:defRPr sz="1200">
                <a:solidFill>
                  <a:srgbClr val="5C5C6A"/>
                </a:solidFill>
                <a:latin typeface="Inter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A8A98"/>
                </a:solidFill>
                <a:latin typeface="Inter"/>
              </a:defRPr>
            </a:pPr>
            <a:r>
              <a:t>SlydAI  •  HOLO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5603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C3B7FF"/>
                </a:solidFill>
                <a:latin typeface="Inter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3200" b="1">
                <a:solidFill>
                  <a:srgbClr val="3A3A46"/>
                </a:solidFill>
                <a:latin typeface="Sora"/>
              </a:defRPr>
            </a:pPr>
            <a:r>
              <a:t>Kun Tartibi: Marketingning **Kompleks** Vazifalari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206500" rIns="228600"/>
          <a:lstStyle/>
          <a:p>
            <a:pPr algn="ctr"/>
            <a:r>
              <a:rPr sz="1650" b="1">
                <a:solidFill>
                  <a:srgbClr val="3A3A46"/>
                </a:solidFill>
                <a:latin typeface="Sora"/>
              </a:rPr>
              <a:t>Yo'nalish 01  —  </a:t>
            </a:r>
            <a:r>
              <a:rPr sz="1450">
                <a:solidFill>
                  <a:srgbClr val="5C5C6A"/>
                </a:solidFill>
                <a:latin typeface="Inter"/>
              </a:rPr>
              <a:t>Marketingning Asosiy Konsepsiyalari:** Marketingning ta'rifi, uning evolyutsiyasi va zamonaviy biznesdagi o'rni haqida fundamental tushunchalar.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777240" cy="400507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C3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600" b="1">
                <a:solidFill>
                  <a:srgbClr val="C3B7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A8A98"/>
                </a:solidFill>
                <a:latin typeface="Inter"/>
              </a:defRPr>
            </a:pPr>
            <a:r>
              <a:t>SlydAI  •  HOLO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377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C3B7FF"/>
                </a:solidFill>
                <a:latin typeface="Inter"/>
              </a:defRPr>
            </a:pPr>
            <a:r>
              <a:t>SLAYD 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3A3A46"/>
                </a:solidFill>
                <a:latin typeface="Sora"/>
              </a:defRPr>
            </a:pPr>
            <a:r>
              <a:t>Marketingning Asosiy **Funksiyalari**</a:t>
            </a:r>
          </a:p>
          <a:p>
            <a:pPr>
              <a:spcBef>
                <a:spcPts val="300"/>
              </a:spcBef>
              <a:defRPr sz="1550">
                <a:solidFill>
                  <a:srgbClr val="5C5C6A"/>
                </a:solidFill>
                <a:latin typeface="Inter"/>
              </a:defRPr>
            </a:pPr>
            <a:r>
              <a:t>Bozor talablarini qondirish va biznes maqsadlariga erishishdagi muhim jarayonlar.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3036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54000" rIns="254000"/>
          <a:lstStyle/>
          <a:p>
            <a:pPr algn="ctr">
              <a:spcAft>
                <a:spcPts val="1200"/>
              </a:spcAft>
              <a:defRPr sz="1600" b="1">
                <a:solidFill>
                  <a:srgbClr val="C3B7FF"/>
                </a:solidFill>
                <a:latin typeface="Sora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5C5C6A"/>
                </a:solidFill>
                <a:latin typeface="Inter"/>
              </a:rPr>
              <a:t>• Bozor Tadqiqotlari:** Bozorning hajmi, tendentsiyalari, mijozlarning ehtiyojlari va raqobatchilarning faoliyatini muntazam ravishda o'rganish. Bu ma'lumotlar asosida mahsulotni takomillashtirish va yangi bozor imkoniyatlarini aniqlash mumkin.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230368" cy="54864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874519"/>
            <a:ext cx="5230368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54000" rIns="254000"/>
          <a:lstStyle/>
          <a:p>
            <a:pPr algn="ctr">
              <a:spcAft>
                <a:spcPts val="1200"/>
              </a:spcAft>
              <a:defRPr sz="1600" b="1">
                <a:solidFill>
                  <a:srgbClr val="C3B7FF"/>
                </a:solidFill>
                <a:latin typeface="Sora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5C5C6A"/>
                </a:solidFill>
                <a:latin typeface="Inter"/>
              </a:rPr>
              <a:t>• Bozor Tadqiqotlari:** Bozorning hajmi, tendentsiyalari, mijozlarning ehtiyojlari va raqobatchilarning faoliyatini muntazam ravishda o'rganish. Bu ma'lumotlar asosida mahsulotni takomillashtirish va yangi bozor imkoniyatlarini aniqlash mumkin.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874519"/>
            <a:ext cx="5230368" cy="54864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A8A98"/>
                </a:solidFill>
                <a:latin typeface="Inter"/>
              </a:defRPr>
            </a:pPr>
            <a:r>
              <a:t>SlydAI  •  HOLO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23774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C3B7FF"/>
                </a:solidFill>
                <a:latin typeface="Inter"/>
              </a:defRPr>
            </a:pPr>
            <a:r>
              <a:t>SLAYD 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3A3A46"/>
                </a:solidFill>
                <a:latin typeface="Sora"/>
              </a:defRPr>
            </a:pPr>
            <a:r>
              <a:t>Marketingning **Strategik** Ta'siri</a:t>
            </a:r>
          </a:p>
          <a:p>
            <a:pPr>
              <a:spcBef>
                <a:spcPts val="300"/>
              </a:spcBef>
              <a:defRPr sz="1550">
                <a:solidFill>
                  <a:srgbClr val="5C5C6A"/>
                </a:solidFill>
                <a:latin typeface="Inter"/>
              </a:defRPr>
            </a:pPr>
            <a:r>
              <a:t>Biznes o'sishi, brend qadr-qimmati va mijoz sodiqligini oshirishdagi hal qiluvchi 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28655" cy="4251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28600" rIns="228600"/>
          <a:lstStyle/>
          <a:p>
            <a:pPr algn="ctr">
              <a:spcAft>
                <a:spcPts val="1000"/>
              </a:spcAft>
              <a:defRPr sz="1150" b="1">
                <a:solidFill>
                  <a:srgbClr val="C3B7FF"/>
                </a:solidFill>
                <a:latin typeface="Inter"/>
              </a:defRPr>
            </a:pPr>
            <a:r>
              <a:t>USTUN 01</a:t>
            </a:r>
          </a:p>
          <a:p>
            <a:pPr>
              <a:defRPr sz="1350">
                <a:solidFill>
                  <a:srgbClr val="5C5C6A"/>
                </a:solidFill>
                <a:latin typeface="Inter"/>
              </a:defRPr>
            </a:pPr>
            <a:r>
              <a:t>Bozor Ulushini Kengaytirish:** Samarali marketing strategiyalari orqali yangi mijozlarni jalb qilish va mavjud bozorlarda kompaniyaning ulushini oshirish. Bu, odatda, raqobatchilardan farqlash va noyob takliflar yaratish orqali amalga oshiriladi.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0728655" cy="54864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A8A98"/>
                </a:solidFill>
                <a:latin typeface="Inter"/>
              </a:defRPr>
            </a:pPr>
            <a:r>
              <a:t>SlydAI  •  HOLO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457200"/>
            <a:ext cx="4693615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100" b="1">
                <a:solidFill>
                  <a:srgbClr val="C3B7FF"/>
                </a:solidFill>
                <a:latin typeface="Inter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3000" b="1">
                <a:solidFill>
                  <a:srgbClr val="3A3A46"/>
                </a:solidFill>
                <a:latin typeface="Sora"/>
              </a:defRPr>
            </a:pPr>
            <a:r>
              <a:t>Xulosa va Harakatlar **Rejasi**</a:t>
            </a:r>
          </a:p>
          <a:p>
            <a:pPr algn="ctr">
              <a:spcBef>
                <a:spcPts val="400"/>
              </a:spcBef>
              <a:defRPr sz="1550">
                <a:solidFill>
                  <a:srgbClr val="5C5C6A"/>
                </a:solidFill>
                <a:latin typeface="Inter"/>
              </a:defRPr>
            </a:pPr>
            <a:r>
              <a:t>Marketingning asosiy vazifalaridan olingan asosiy xulosalar va kelgusi strategik qadamlar.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728655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28600" rIns="228600"/>
          <a:lstStyle/>
          <a:p>
            <a:pPr algn="ctr">
              <a:spcAft>
                <a:spcPts val="1200"/>
              </a:spcAft>
              <a:defRPr sz="1150" b="1">
                <a:solidFill>
                  <a:srgbClr val="C3B7FF"/>
                </a:solidFill>
                <a:latin typeface="Inter"/>
              </a:defRPr>
            </a:pPr>
            <a:r>
              <a:t>01. ASOSIY XULOSA</a:t>
            </a:r>
          </a:p>
          <a:p>
            <a:pPr>
              <a:defRPr sz="1400">
                <a:solidFill>
                  <a:srgbClr val="5C5C6A"/>
                </a:solidFill>
                <a:latin typeface="Inter"/>
              </a:defRPr>
            </a:pPr>
            <a:r>
              <a:t>Asosiy Xulosa:** Marketing kompaniyaning bozorga yo'naltirilganligini ta'minlovchi, mijozlar bilan aloqalarni mustahkamlovchi va barqaror o'sishni qo'llab-quvvatlovchi markaziy funksiyadir. U nafaqat savdo, balki brend yaratish va innovatsiyalar uchun ham muhimdir.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0728655" cy="73152"/>
          </a:xfrm>
          <a:prstGeom prst="rect">
            <a:avLst/>
          </a:prstGeom>
          <a:solidFill>
            <a:srgbClr val="C3B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>
                <a:solidFill>
                  <a:srgbClr val="8A8A98"/>
                </a:solidFill>
                <a:latin typeface="Inter"/>
              </a:defRPr>
            </a:pPr>
            <a:r>
              <a:t>SlydAI  •  HOLO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